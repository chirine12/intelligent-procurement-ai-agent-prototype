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60" r:id="rId4"/>
    <p:sldId id="264" r:id="rId5"/>
    <p:sldId id="268" r:id="rId6"/>
    <p:sldId id="259" r:id="rId7"/>
    <p:sldId id="266" r:id="rId8"/>
    <p:sldId id="269" r:id="rId9"/>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946" y="12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value</c:v>
                </c:pt>
              </c:strCache>
            </c:strRef>
          </c:tx>
          <c:invertIfNegative val="1"/>
          <c:dPt>
            <c:idx val="0"/>
            <c:invertIfNegative val="1"/>
            <c:bubble3D val="0"/>
            <c:spPr>
              <a:solidFill>
                <a:srgbClr val="FF5100"/>
              </a:solidFill>
            </c:spPr>
            <c:extLst>
              <c:ext xmlns:c16="http://schemas.microsoft.com/office/drawing/2014/chart" uri="{C3380CC4-5D6E-409C-BE32-E72D297353CC}">
                <c16:uniqueId val="{00000001-579C-49BD-8419-1255442656CE}"/>
              </c:ext>
            </c:extLst>
          </c:dPt>
          <c:dPt>
            <c:idx val="1"/>
            <c:invertIfNegative val="1"/>
            <c:bubble3D val="0"/>
            <c:spPr>
              <a:solidFill>
                <a:srgbClr val="632103"/>
              </a:solidFill>
            </c:spPr>
            <c:extLst>
              <c:ext xmlns:c16="http://schemas.microsoft.com/office/drawing/2014/chart" uri="{C3380CC4-5D6E-409C-BE32-E72D297353CC}">
                <c16:uniqueId val="{00000003-579C-49BD-8419-1255442656CE}"/>
              </c:ext>
            </c:extLst>
          </c:dPt>
          <c:dPt>
            <c:idx val="2"/>
            <c:invertIfNegative val="1"/>
            <c:bubble3D val="0"/>
            <c:spPr>
              <a:solidFill>
                <a:srgbClr val="632103"/>
              </a:solidFill>
            </c:spPr>
            <c:extLst>
              <c:ext xmlns:c16="http://schemas.microsoft.com/office/drawing/2014/chart" uri="{C3380CC4-5D6E-409C-BE32-E72D297353CC}">
                <c16:uniqueId val="{00000005-579C-49BD-8419-1255442656CE}"/>
              </c:ext>
            </c:extLst>
          </c:dPt>
          <c:dPt>
            <c:idx val="3"/>
            <c:invertIfNegative val="1"/>
            <c:bubble3D val="0"/>
            <c:spPr>
              <a:solidFill>
                <a:srgbClr val="632103"/>
              </a:solidFill>
            </c:spPr>
            <c:extLst>
              <c:ext xmlns:c16="http://schemas.microsoft.com/office/drawing/2014/chart" uri="{C3380CC4-5D6E-409C-BE32-E72D297353CC}">
                <c16:uniqueId val="{00000007-579C-49BD-8419-1255442656CE}"/>
              </c:ext>
            </c:extLst>
          </c:dPt>
          <c:dPt>
            <c:idx val="4"/>
            <c:invertIfNegative val="1"/>
            <c:bubble3D val="0"/>
            <c:spPr>
              <a:solidFill>
                <a:srgbClr val="632103"/>
              </a:solidFill>
            </c:spPr>
            <c:extLst>
              <c:ext xmlns:c16="http://schemas.microsoft.com/office/drawing/2014/chart" uri="{C3380CC4-5D6E-409C-BE32-E72D297353CC}">
                <c16:uniqueId val="{00000009-579C-49BD-8419-1255442656CE}"/>
              </c:ext>
            </c:extLst>
          </c:dPt>
          <c:dLbls>
            <c:dLbl>
              <c:idx val="0"/>
              <c:tx>
                <c:rich>
                  <a:bodyPr/>
                  <a:lstStyle/>
                  <a:p>
                    <a:r>
                      <a:rPr lang="en-US" sz="2000" b="1">
                        <a:latin typeface="Arial"/>
                      </a:rPr>
                      <a:t>47.5%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79C-49BD-8419-1255442656CE}"/>
                </c:ext>
              </c:extLst>
            </c:dLbl>
            <c:dLbl>
              <c:idx val="1"/>
              <c:tx>
                <c:rich>
                  <a:bodyPr/>
                  <a:lstStyle/>
                  <a:p>
                    <a:r>
                      <a:rPr lang="en-US" sz="2000" b="1">
                        <a:latin typeface="Arial"/>
                      </a:rPr>
                      <a:t>34.0%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79C-49BD-8419-1255442656CE}"/>
                </c:ext>
              </c:extLst>
            </c:dLbl>
            <c:dLbl>
              <c:idx val="2"/>
              <c:tx>
                <c:rich>
                  <a:bodyPr/>
                  <a:lstStyle/>
                  <a:p>
                    <a:r>
                      <a:rPr lang="en-US" sz="2000" b="1">
                        <a:latin typeface="Arial"/>
                      </a:rPr>
                      <a:t>26.1%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79C-49BD-8419-1255442656CE}"/>
                </c:ext>
              </c:extLst>
            </c:dLbl>
            <c:dLbl>
              <c:idx val="3"/>
              <c:tx>
                <c:rich>
                  <a:bodyPr/>
                  <a:lstStyle/>
                  <a:p>
                    <a:r>
                      <a:rPr lang="en-US" sz="2000" b="1">
                        <a:latin typeface="Arial"/>
                      </a:rPr>
                      <a:t>25.1%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579C-49BD-8419-1255442656CE}"/>
                </c:ext>
              </c:extLst>
            </c:dLbl>
            <c:dLbl>
              <c:idx val="4"/>
              <c:tx>
                <c:rich>
                  <a:bodyPr/>
                  <a:lstStyle/>
                  <a:p>
                    <a:r>
                      <a:rPr lang="en-US" sz="2000" b="1">
                        <a:latin typeface="Arial"/>
                      </a:rPr>
                      <a:t>20.1%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579C-49BD-8419-1255442656C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Electronics</c:v>
                </c:pt>
                <c:pt idx="1">
                  <c:v>Packaging</c:v>
                </c:pt>
                <c:pt idx="2">
                  <c:v>Chemicals</c:v>
                </c:pt>
                <c:pt idx="3">
                  <c:v>Mechanical Parts</c:v>
                </c:pt>
                <c:pt idx="4">
                  <c:v>Raw Materials</c:v>
                </c:pt>
              </c:strCache>
            </c:strRef>
          </c:cat>
          <c:val>
            <c:numRef>
              <c:f>Sheet1!$B$2:$B$6</c:f>
              <c:numCache>
                <c:formatCode>General</c:formatCode>
                <c:ptCount val="5"/>
                <c:pt idx="0">
                  <c:v>0.47499999999999998</c:v>
                </c:pt>
                <c:pt idx="1">
                  <c:v>0.34</c:v>
                </c:pt>
                <c:pt idx="2">
                  <c:v>0.26100000000000001</c:v>
                </c:pt>
                <c:pt idx="3">
                  <c:v>0.251</c:v>
                </c:pt>
                <c:pt idx="4">
                  <c:v>0.20100000000000001</c:v>
                </c:pt>
              </c:numCache>
            </c:numRef>
          </c:val>
          <c:extLst>
            <c:ext xmlns:c16="http://schemas.microsoft.com/office/drawing/2014/chart" uri="{C3380CC4-5D6E-409C-BE32-E72D297353CC}">
              <c16:uniqueId val="{0000000A-579C-49BD-8419-1255442656CE}"/>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9BCA3"/>
            </a:solidFill>
          </a:ln>
        </c:spPr>
        <c:txPr>
          <a:bodyPr/>
          <a:lstStyle/>
          <a:p>
            <a:pPr>
              <a:defRPr sz="1600">
                <a:latin typeface="Arial"/>
              </a:defRPr>
            </a:pPr>
            <a:endParaRPr lang="fr-FR"/>
          </a:p>
        </c:txPr>
        <c:crossAx val="-2113994440"/>
        <c:crosses val="autoZero"/>
        <c:auto val="1"/>
        <c:lblAlgn val="ctr"/>
        <c:lblOffset val="100"/>
        <c:noMultiLvlLbl val="0"/>
      </c:catAx>
      <c:valAx>
        <c:axId val="-2113994440"/>
        <c:scaling>
          <c:orientation val="minMax"/>
          <c:max val="0.6"/>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6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1"/>
        <c:ser>
          <c:idx val="0"/>
          <c:order val="0"/>
          <c:tx>
            <c:strRef>
              <c:f>Sheet1!$B$1</c:f>
              <c:strCache>
                <c:ptCount val="1"/>
                <c:pt idx="0">
                  <c:v>value</c:v>
                </c:pt>
              </c:strCache>
            </c:strRef>
          </c:tx>
          <c:invertIfNegative val="1"/>
          <c:dPt>
            <c:idx val="0"/>
            <c:invertIfNegative val="1"/>
            <c:bubble3D val="0"/>
            <c:spPr>
              <a:solidFill>
                <a:srgbClr val="FFA800"/>
              </a:solidFill>
            </c:spPr>
            <c:extLst>
              <c:ext xmlns:c16="http://schemas.microsoft.com/office/drawing/2014/chart" uri="{C3380CC4-5D6E-409C-BE32-E72D297353CC}">
                <c16:uniqueId val="{00000001-6F86-4E1A-B24C-515960DF6372}"/>
              </c:ext>
            </c:extLst>
          </c:dPt>
          <c:dPt>
            <c:idx val="1"/>
            <c:invertIfNegative val="1"/>
            <c:bubble3D val="0"/>
            <c:spPr>
              <a:solidFill>
                <a:srgbClr val="FFA800"/>
              </a:solidFill>
            </c:spPr>
            <c:extLst>
              <c:ext xmlns:c16="http://schemas.microsoft.com/office/drawing/2014/chart" uri="{C3380CC4-5D6E-409C-BE32-E72D297353CC}">
                <c16:uniqueId val="{00000003-6F86-4E1A-B24C-515960DF6372}"/>
              </c:ext>
            </c:extLst>
          </c:dPt>
          <c:dPt>
            <c:idx val="2"/>
            <c:invertIfNegative val="1"/>
            <c:bubble3D val="0"/>
            <c:spPr>
              <a:solidFill>
                <a:srgbClr val="FF5100"/>
              </a:solidFill>
            </c:spPr>
            <c:extLst>
              <c:ext xmlns:c16="http://schemas.microsoft.com/office/drawing/2014/chart" uri="{C3380CC4-5D6E-409C-BE32-E72D297353CC}">
                <c16:uniqueId val="{00000005-6F86-4E1A-B24C-515960DF6372}"/>
              </c:ext>
            </c:extLst>
          </c:dPt>
          <c:dPt>
            <c:idx val="3"/>
            <c:invertIfNegative val="1"/>
            <c:bubble3D val="0"/>
            <c:spPr>
              <a:solidFill>
                <a:srgbClr val="C9BCA3"/>
              </a:solidFill>
            </c:spPr>
            <c:extLst>
              <c:ext xmlns:c16="http://schemas.microsoft.com/office/drawing/2014/chart" uri="{C3380CC4-5D6E-409C-BE32-E72D297353CC}">
                <c16:uniqueId val="{00000007-6F86-4E1A-B24C-515960DF6372}"/>
              </c:ext>
            </c:extLst>
          </c:dPt>
          <c:dLbls>
            <c:dLbl>
              <c:idx val="0"/>
              <c:tx>
                <c:rich>
                  <a:bodyPr/>
                  <a:lstStyle/>
                  <a:p>
                    <a:r>
                      <a:rPr lang="en-US" sz="2000" b="1">
                        <a:latin typeface="Arial"/>
                      </a:rPr>
                      <a:t>0.659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F86-4E1A-B24C-515960DF6372}"/>
                </c:ext>
              </c:extLst>
            </c:dLbl>
            <c:dLbl>
              <c:idx val="1"/>
              <c:tx>
                <c:rich>
                  <a:bodyPr/>
                  <a:lstStyle/>
                  <a:p>
                    <a:r>
                      <a:rPr lang="en-US" sz="2000" b="1">
                        <a:latin typeface="Arial"/>
                      </a:rPr>
                      <a:t>0.662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F86-4E1A-B24C-515960DF6372}"/>
                </c:ext>
              </c:extLst>
            </c:dLbl>
            <c:dLbl>
              <c:idx val="2"/>
              <c:tx>
                <c:rich>
                  <a:bodyPr/>
                  <a:lstStyle/>
                  <a:p>
                    <a:r>
                      <a:rPr lang="en-US" sz="2000" b="1">
                        <a:latin typeface="Arial"/>
                      </a:rPr>
                      <a:t>0.676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6F86-4E1A-B24C-515960DF6372}"/>
                </c:ext>
              </c:extLst>
            </c:dLbl>
            <c:dLbl>
              <c:idx val="3"/>
              <c:tx>
                <c:rich>
                  <a:bodyPr/>
                  <a:lstStyle/>
                  <a:p>
                    <a:r>
                      <a:rPr lang="en-US" sz="2000" b="1">
                        <a:latin typeface="Arial"/>
                      </a:rPr>
                      <a:t>0.703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6F86-4E1A-B24C-515960DF637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Sheet1!$A$2:$A$5</c:f>
              <c:strCache>
                <c:ptCount val="4"/>
                <c:pt idx="0">
                  <c:v>Logistic Regression (tested)</c:v>
                </c:pt>
                <c:pt idx="1">
                  <c:v>Random Forest (tested)</c:v>
                </c:pt>
                <c:pt idx="2">
                  <c:v>Supplier late rate (kept)</c:v>
                </c:pt>
                <c:pt idx="3">
                  <c:v>Ceiling: true probability</c:v>
                </c:pt>
              </c:strCache>
            </c:strRef>
          </c:cat>
          <c:val>
            <c:numRef>
              <c:f>Sheet1!$B$2:$B$5</c:f>
              <c:numCache>
                <c:formatCode>General</c:formatCode>
                <c:ptCount val="4"/>
                <c:pt idx="0">
                  <c:v>0.65900000000000003</c:v>
                </c:pt>
                <c:pt idx="1">
                  <c:v>0.66200000000000003</c:v>
                </c:pt>
                <c:pt idx="2">
                  <c:v>0.67600000000000005</c:v>
                </c:pt>
                <c:pt idx="3">
                  <c:v>0.70299999999999996</c:v>
                </c:pt>
              </c:numCache>
            </c:numRef>
          </c:val>
          <c:extLst>
            <c:ext xmlns:c16="http://schemas.microsoft.com/office/drawing/2014/chart" uri="{C3380CC4-5D6E-409C-BE32-E72D297353CC}">
              <c16:uniqueId val="{00000008-6F86-4E1A-B24C-515960DF6372}"/>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9BCA3"/>
            </a:solidFill>
          </a:ln>
        </c:spPr>
        <c:txPr>
          <a:bodyPr/>
          <a:lstStyle/>
          <a:p>
            <a:pPr>
              <a:defRPr sz="1600">
                <a:latin typeface="Arial"/>
              </a:defRPr>
            </a:pPr>
            <a:endParaRPr lang="fr-FR"/>
          </a:p>
        </c:txPr>
        <c:crossAx val="-2113994440"/>
        <c:crosses val="autoZero"/>
        <c:auto val="1"/>
        <c:lblAlgn val="ctr"/>
        <c:lblOffset val="100"/>
        <c:noMultiLvlLbl val="0"/>
      </c:catAx>
      <c:valAx>
        <c:axId val="-2113994440"/>
        <c:scaling>
          <c:orientation val="minMax"/>
          <c:max val="0.75"/>
          <c:min val="0.5"/>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6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2349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yourself and the goal in one sentence: a prototype agent that finds risky purchase orders, explains why, recommends actions and lets people approve the sensitive ones. Everything SAP-related is simulated. Say it upfront.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Rules are predictable but rigid, ML only predicts, a chatbot only answers; an agent investigates with tools and acts, which is why it needs guardrails, approvals and logging. Joule Studio is where an SAP customer would build such an agent. In this prototype SAP is simulated: the mock tools have the shape of these APIs. Sources: docs/SAP_AND_AGENTIC_AI.md.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it from the buyer's view: which orders do I look at first, and why? Delays concentrate on a few suppliers and on electronics; stock is already short for some materials. The numbers come from the synthetic data (seed 42, as of 2026-10-12), designed with realistic patterns.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sentence per step. The deterministic core (business rules + the supplier's historical late rate) decides the numbers, the agent orchestrates tools, the LLM only writes text, and people keep the authority for sensitive actions. Every step lands in an append-only audit log.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it from the user to SAP. The buyer and the approver use the Flask web app or the CLI. The orchestrator runs the 8-step workflow and calls the risk engine (45% overdue, 30% rules, 25% supplier late rate), the guardrail, the LLM narrator, the audit log and the report writer. SAP data comes in through the mock SAP tool API. In production that API would call the S/4HANA OData V4 APIs through SAP BTP (destinations, Cloud Connector), the LLM would go through the generative AI hub, and approvals would move to SAP Build Process Automation. There is no model to host: the scoring is plain rules and one statistic.</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it clearly: I tried machine learning and measured it honestly. With a temporal split and time-series cross-validation, the Logistic Regression reached 0.659 test ROC-AUC; the supplier late rate alone reached 0.676, and even the generator's true probability only reaches 0.703, delays here are mostly random draws. Over 10 other generated datasets the model was ahead by only 0.025 on average. The brief asks for a simple, well-explained solution, so the risk score uses business rules and that one statistic. With real SAP history and richer features (lead time, plant, season) I would test a model again.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to the web app and follow the brief step by step: data quality on the Overview; the risk ranking (priority is not risk: PO 4500000342 is Medium but ranks 3rd); investigate PO 4500000337 (overdue, stock below safety stock, supplier late 64% of the time); the reminder is automatic, the supplier replacement waits for the Director; reject it with a reason; show the audit log. If the live demo fails, play the recorded 3-minute video from its own file.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Close with the learnings, they are the personal part. Everything under 'Next steps' is future work, not implemented. Invite questions; presentation/DEMO_SCRIPT.md has prepared answers (why no ML, where the weights come from, what the LLM decides).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jpeg"/><Relationship Id="rId7"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7.svg"/><Relationship Id="rId5" Type="http://schemas.openxmlformats.org/officeDocument/2006/relationships/image" Target="../media/image12.svg"/><Relationship Id="rId10" Type="http://schemas.openxmlformats.org/officeDocument/2006/relationships/image" Target="../media/image8.svg"/><Relationship Id="rId4" Type="http://schemas.openxmlformats.org/officeDocument/2006/relationships/image" Target="../media/image11.svg"/><Relationship Id="rId9" Type="http://schemas.openxmlformats.org/officeDocument/2006/relationships/image" Target="../media/image16.svg"/></Relationships>
</file>

<file path=ppt/slides/_rels/slide3.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18.jpeg"/><Relationship Id="rId7" Type="http://schemas.openxmlformats.org/officeDocument/2006/relationships/image" Target="../media/image22.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jpeg"/><Relationship Id="rId7" Type="http://schemas.openxmlformats.org/officeDocument/2006/relationships/image" Target="../media/image27.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6.jpeg"/><Relationship Id="rId11" Type="http://schemas.openxmlformats.org/officeDocument/2006/relationships/image" Target="../media/image30.svg"/><Relationship Id="rId5" Type="http://schemas.openxmlformats.org/officeDocument/2006/relationships/image" Target="../media/image25.svg"/><Relationship Id="rId10" Type="http://schemas.openxmlformats.org/officeDocument/2006/relationships/image" Target="../media/image17.svg"/><Relationship Id="rId4" Type="http://schemas.openxmlformats.org/officeDocument/2006/relationships/image" Target="../media/image24.svg"/><Relationship Id="rId9" Type="http://schemas.openxmlformats.org/officeDocument/2006/relationships/image" Target="../media/image29.svg"/></Relationships>
</file>

<file path=ppt/slides/_rels/slide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svg"/></Relationships>
</file>

<file path=ppt/slides/_rels/slide6.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jpeg"/><Relationship Id="rId7" Type="http://schemas.openxmlformats.org/officeDocument/2006/relationships/image" Target="../media/image39.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 Id="rId9" Type="http://schemas.openxmlformats.org/officeDocument/2006/relationships/chart" Target="../charts/chart2.xml"/></Relationships>
</file>

<file path=ppt/slides/_rels/slide7.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slideLayout" Target="../slideLayouts/slideLayout7.xml"/><Relationship Id="rId7" Type="http://schemas.openxmlformats.org/officeDocument/2006/relationships/image" Target="../media/image38.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2.svg"/><Relationship Id="rId5" Type="http://schemas.openxmlformats.org/officeDocument/2006/relationships/image" Target="../media/image41.jpeg"/><Relationship Id="rId4" Type="http://schemas.openxmlformats.org/officeDocument/2006/relationships/notesSlide" Target="../notesSlides/notesSlide7.xml"/><Relationship Id="rId9" Type="http://schemas.openxmlformats.org/officeDocument/2006/relationships/image" Target="../media/image43.png"/></Relationships>
</file>

<file path=ppt/slides/_rels/slide8.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7.jpeg"/><Relationship Id="rId7"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4.svg"/><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477" y="-16147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sp>
        <p:nvSpPr>
          <p:cNvPr id="3" name="Freeform 3"/>
          <p:cNvSpPr/>
          <p:nvPr/>
        </p:nvSpPr>
        <p:spPr>
          <a:xfrm>
            <a:off x="338605" y="7207081"/>
            <a:ext cx="13991794" cy="4529843"/>
          </a:xfrm>
          <a:custGeom>
            <a:avLst/>
            <a:gdLst/>
            <a:ahLst/>
            <a:cxnLst/>
            <a:rect l="l" t="t" r="r" b="b"/>
            <a:pathLst>
              <a:path w="13991794" h="4529843">
                <a:moveTo>
                  <a:pt x="0" y="0"/>
                </a:moveTo>
                <a:lnTo>
                  <a:pt x="13991794" y="0"/>
                </a:lnTo>
                <a:lnTo>
                  <a:pt x="13991794" y="4529843"/>
                </a:lnTo>
                <a:lnTo>
                  <a:pt x="0" y="4529843"/>
                </a:lnTo>
                <a:lnTo>
                  <a:pt x="0" y="0"/>
                </a:lnTo>
                <a:close/>
              </a:path>
            </a:pathLst>
          </a:custGeom>
          <a:blipFill>
            <a:blip>
              <a:alphaModFix amt="6000"/>
              <a:extLst>
                <a:ext uri="{96DAC541-7B7A-43D3-8B79-37D633B846F1}">
                  <asvg:svgBlip xmlns:asvg="http://schemas.microsoft.com/office/drawing/2016/SVG/main" r:embed="rId4"/>
                </a:ext>
              </a:extLst>
            </a:blip>
            <a:stretch>
              <a:fillRect/>
            </a:stretch>
          </a:blipFill>
        </p:spPr>
        <p:txBody>
          <a:bodyPr/>
          <a:lstStyle/>
          <a:p>
            <a:endParaRPr/>
          </a:p>
        </p:txBody>
      </p:sp>
      <p:grpSp>
        <p:nvGrpSpPr>
          <p:cNvPr id="4" name="Group 4"/>
          <p:cNvGrpSpPr/>
          <p:nvPr/>
        </p:nvGrpSpPr>
        <p:grpSpPr>
          <a:xfrm rot="-8191294">
            <a:off x="8199983" y="9360998"/>
            <a:ext cx="3656319" cy="9196217"/>
            <a:chOff x="0" y="0"/>
            <a:chExt cx="962981" cy="2422049"/>
          </a:xfrm>
        </p:grpSpPr>
        <p:sp>
          <p:nvSpPr>
            <p:cNvPr id="5" name="Freeform 5"/>
            <p:cNvSpPr/>
            <p:nvPr/>
          </p:nvSpPr>
          <p:spPr>
            <a:xfrm>
              <a:off x="0" y="0"/>
              <a:ext cx="962981" cy="2422049"/>
            </a:xfrm>
            <a:custGeom>
              <a:avLst/>
              <a:gdLst/>
              <a:ahLst/>
              <a:cxnLst/>
              <a:rect l="l" t="t" r="r" b="b"/>
              <a:pathLst>
                <a:path w="962981" h="2422049">
                  <a:moveTo>
                    <a:pt x="0" y="0"/>
                  </a:moveTo>
                  <a:lnTo>
                    <a:pt x="962981" y="0"/>
                  </a:lnTo>
                  <a:lnTo>
                    <a:pt x="962981" y="2422049"/>
                  </a:lnTo>
                  <a:lnTo>
                    <a:pt x="0" y="2422049"/>
                  </a:lnTo>
                  <a:close/>
                </a:path>
              </a:pathLst>
            </a:custGeom>
            <a:solidFill>
              <a:srgbClr val="632103"/>
            </a:solidFill>
          </p:spPr>
          <p:txBody>
            <a:bodyPr/>
            <a:lstStyle/>
            <a:p>
              <a:endParaRPr/>
            </a:p>
          </p:txBody>
        </p:sp>
        <p:sp>
          <p:nvSpPr>
            <p:cNvPr id="6" name="TextBox 6"/>
            <p:cNvSpPr txBox="1"/>
            <p:nvPr/>
          </p:nvSpPr>
          <p:spPr>
            <a:xfrm>
              <a:off x="0" y="-47625"/>
              <a:ext cx="962981" cy="2469674"/>
            </a:xfrm>
            <a:prstGeom prst="rect">
              <a:avLst/>
            </a:prstGeom>
          </p:spPr>
          <p:txBody>
            <a:bodyPr lIns="50800" tIns="50800" rIns="50800" bIns="50800" rtlCol="0" anchor="ctr"/>
            <a:lstStyle/>
            <a:p>
              <a:pPr algn="ctr">
                <a:lnSpc>
                  <a:spcPts val="3359"/>
                </a:lnSpc>
              </a:pPr>
              <a:endParaRPr/>
            </a:p>
          </p:txBody>
        </p:sp>
      </p:grpSp>
      <p:sp>
        <p:nvSpPr>
          <p:cNvPr id="7" name="Freeform 7"/>
          <p:cNvSpPr/>
          <p:nvPr/>
        </p:nvSpPr>
        <p:spPr>
          <a:xfrm>
            <a:off x="11423676" y="7207081"/>
            <a:ext cx="7755545" cy="6159838"/>
          </a:xfrm>
          <a:custGeom>
            <a:avLst/>
            <a:gdLst/>
            <a:ahLst/>
            <a:cxnLst/>
            <a:rect l="l" t="t" r="r" b="b"/>
            <a:pathLst>
              <a:path w="7755545" h="6159838">
                <a:moveTo>
                  <a:pt x="0" y="0"/>
                </a:moveTo>
                <a:lnTo>
                  <a:pt x="7755545" y="0"/>
                </a:lnTo>
                <a:lnTo>
                  <a:pt x="7755545" y="6159838"/>
                </a:lnTo>
                <a:lnTo>
                  <a:pt x="0" y="6159838"/>
                </a:lnTo>
                <a:lnTo>
                  <a:pt x="0" y="0"/>
                </a:lnTo>
                <a:close/>
              </a:path>
            </a:pathLst>
          </a:custGeom>
          <a:blipFill>
            <a:blip>
              <a:extLst>
                <a:ext uri="{96DAC541-7B7A-43D3-8B79-37D633B846F1}">
                  <asvg:svgBlip xmlns:asvg="http://schemas.microsoft.com/office/drawing/2016/SVG/main" r:embed="rId5"/>
                </a:ext>
              </a:extLst>
            </a:blip>
            <a:stretch>
              <a:fillRect l="-76991"/>
            </a:stretch>
          </a:blipFill>
        </p:spPr>
        <p:txBody>
          <a:bodyPr/>
          <a:lstStyle/>
          <a:p>
            <a:endParaRPr/>
          </a:p>
        </p:txBody>
      </p:sp>
      <p:grpSp>
        <p:nvGrpSpPr>
          <p:cNvPr id="8" name="Group 8"/>
          <p:cNvGrpSpPr/>
          <p:nvPr/>
        </p:nvGrpSpPr>
        <p:grpSpPr>
          <a:xfrm rot="-2634846">
            <a:off x="5914205" y="-10706394"/>
            <a:ext cx="5230997" cy="12991103"/>
            <a:chOff x="0" y="0"/>
            <a:chExt cx="1377711" cy="3421525"/>
          </a:xfrm>
        </p:grpSpPr>
        <p:sp>
          <p:nvSpPr>
            <p:cNvPr id="9" name="Freeform 9"/>
            <p:cNvSpPr/>
            <p:nvPr/>
          </p:nvSpPr>
          <p:spPr>
            <a:xfrm>
              <a:off x="0" y="0"/>
              <a:ext cx="1377711" cy="3421525"/>
            </a:xfrm>
            <a:custGeom>
              <a:avLst/>
              <a:gdLst/>
              <a:ahLst/>
              <a:cxnLst/>
              <a:rect l="l" t="t" r="r" b="b"/>
              <a:pathLst>
                <a:path w="1377711" h="3421525">
                  <a:moveTo>
                    <a:pt x="0" y="0"/>
                  </a:moveTo>
                  <a:lnTo>
                    <a:pt x="1377711" y="0"/>
                  </a:lnTo>
                  <a:lnTo>
                    <a:pt x="1377711" y="3421525"/>
                  </a:lnTo>
                  <a:lnTo>
                    <a:pt x="0" y="3421525"/>
                  </a:lnTo>
                  <a:close/>
                </a:path>
              </a:pathLst>
            </a:custGeom>
            <a:solidFill>
              <a:srgbClr val="FFA800"/>
            </a:solidFill>
          </p:spPr>
          <p:txBody>
            <a:bodyPr/>
            <a:lstStyle/>
            <a:p>
              <a:endParaRPr/>
            </a:p>
          </p:txBody>
        </p:sp>
        <p:sp>
          <p:nvSpPr>
            <p:cNvPr id="10" name="TextBox 10"/>
            <p:cNvSpPr txBox="1"/>
            <p:nvPr/>
          </p:nvSpPr>
          <p:spPr>
            <a:xfrm>
              <a:off x="0" y="-47625"/>
              <a:ext cx="1377711" cy="3469150"/>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rot="-2634846">
            <a:off x="5914205" y="-11519761"/>
            <a:ext cx="5230997" cy="12991103"/>
            <a:chOff x="0" y="0"/>
            <a:chExt cx="1377711" cy="3421525"/>
          </a:xfrm>
        </p:grpSpPr>
        <p:sp>
          <p:nvSpPr>
            <p:cNvPr id="12" name="Freeform 12"/>
            <p:cNvSpPr/>
            <p:nvPr/>
          </p:nvSpPr>
          <p:spPr>
            <a:xfrm>
              <a:off x="0" y="0"/>
              <a:ext cx="1377711" cy="3421525"/>
            </a:xfrm>
            <a:custGeom>
              <a:avLst/>
              <a:gdLst/>
              <a:ahLst/>
              <a:cxnLst/>
              <a:rect l="l" t="t" r="r" b="b"/>
              <a:pathLst>
                <a:path w="1377711" h="3421525">
                  <a:moveTo>
                    <a:pt x="0" y="0"/>
                  </a:moveTo>
                  <a:lnTo>
                    <a:pt x="1377711" y="0"/>
                  </a:lnTo>
                  <a:lnTo>
                    <a:pt x="1377711" y="3421525"/>
                  </a:lnTo>
                  <a:lnTo>
                    <a:pt x="0" y="3421525"/>
                  </a:lnTo>
                  <a:close/>
                </a:path>
              </a:pathLst>
            </a:custGeom>
            <a:solidFill>
              <a:srgbClr val="632103"/>
            </a:solidFill>
          </p:spPr>
          <p:txBody>
            <a:bodyPr/>
            <a:lstStyle/>
            <a:p>
              <a:endParaRPr/>
            </a:p>
          </p:txBody>
        </p:sp>
        <p:sp>
          <p:nvSpPr>
            <p:cNvPr id="13" name="TextBox 13"/>
            <p:cNvSpPr txBox="1"/>
            <p:nvPr/>
          </p:nvSpPr>
          <p:spPr>
            <a:xfrm>
              <a:off x="0" y="-47625"/>
              <a:ext cx="1377711" cy="3469150"/>
            </a:xfrm>
            <a:prstGeom prst="rect">
              <a:avLst/>
            </a:prstGeom>
          </p:spPr>
          <p:txBody>
            <a:bodyPr lIns="50800" tIns="50800" rIns="50800" bIns="50800" rtlCol="0" anchor="ctr"/>
            <a:lstStyle/>
            <a:p>
              <a:pPr algn="ctr">
                <a:lnSpc>
                  <a:spcPts val="3359"/>
                </a:lnSpc>
              </a:pPr>
              <a:endParaRPr/>
            </a:p>
          </p:txBody>
        </p:sp>
      </p:grpSp>
      <p:grpSp>
        <p:nvGrpSpPr>
          <p:cNvPr id="14" name="Group 14"/>
          <p:cNvGrpSpPr/>
          <p:nvPr/>
        </p:nvGrpSpPr>
        <p:grpSpPr>
          <a:xfrm rot="-2634846">
            <a:off x="14599807" y="-304376"/>
            <a:ext cx="5230997" cy="12991103"/>
            <a:chOff x="0" y="0"/>
            <a:chExt cx="1377711" cy="3421525"/>
          </a:xfrm>
        </p:grpSpPr>
        <p:sp>
          <p:nvSpPr>
            <p:cNvPr id="15" name="Freeform 15"/>
            <p:cNvSpPr/>
            <p:nvPr/>
          </p:nvSpPr>
          <p:spPr>
            <a:xfrm>
              <a:off x="0" y="0"/>
              <a:ext cx="1377711" cy="3421525"/>
            </a:xfrm>
            <a:custGeom>
              <a:avLst/>
              <a:gdLst/>
              <a:ahLst/>
              <a:cxnLst/>
              <a:rect l="l" t="t" r="r" b="b"/>
              <a:pathLst>
                <a:path w="1377711" h="3421525">
                  <a:moveTo>
                    <a:pt x="0" y="0"/>
                  </a:moveTo>
                  <a:lnTo>
                    <a:pt x="1377711" y="0"/>
                  </a:lnTo>
                  <a:lnTo>
                    <a:pt x="1377711" y="3421525"/>
                  </a:lnTo>
                  <a:lnTo>
                    <a:pt x="0" y="3421525"/>
                  </a:lnTo>
                  <a:close/>
                </a:path>
              </a:pathLst>
            </a:custGeom>
            <a:solidFill>
              <a:srgbClr val="FF5100"/>
            </a:solidFill>
          </p:spPr>
          <p:txBody>
            <a:bodyPr/>
            <a:lstStyle/>
            <a:p>
              <a:endParaRPr/>
            </a:p>
          </p:txBody>
        </p:sp>
        <p:sp>
          <p:nvSpPr>
            <p:cNvPr id="16" name="TextBox 16"/>
            <p:cNvSpPr txBox="1"/>
            <p:nvPr/>
          </p:nvSpPr>
          <p:spPr>
            <a:xfrm>
              <a:off x="0" y="-47625"/>
              <a:ext cx="1377711" cy="3469150"/>
            </a:xfrm>
            <a:prstGeom prst="rect">
              <a:avLst/>
            </a:prstGeom>
          </p:spPr>
          <p:txBody>
            <a:bodyPr lIns="50800" tIns="50800" rIns="50800" bIns="50800" rtlCol="0" anchor="ctr"/>
            <a:lstStyle/>
            <a:p>
              <a:pPr algn="ctr">
                <a:lnSpc>
                  <a:spcPts val="3359"/>
                </a:lnSpc>
              </a:pPr>
              <a:endParaRPr/>
            </a:p>
          </p:txBody>
        </p:sp>
      </p:grpSp>
      <p:grpSp>
        <p:nvGrpSpPr>
          <p:cNvPr id="17" name="Group 17"/>
          <p:cNvGrpSpPr/>
          <p:nvPr/>
        </p:nvGrpSpPr>
        <p:grpSpPr>
          <a:xfrm rot="-8191294">
            <a:off x="13222456" y="2637045"/>
            <a:ext cx="3656319" cy="13553969"/>
            <a:chOff x="0" y="0"/>
            <a:chExt cx="962981" cy="3569770"/>
          </a:xfrm>
        </p:grpSpPr>
        <p:sp>
          <p:nvSpPr>
            <p:cNvPr id="18" name="Freeform 18"/>
            <p:cNvSpPr/>
            <p:nvPr/>
          </p:nvSpPr>
          <p:spPr>
            <a:xfrm>
              <a:off x="0" y="0"/>
              <a:ext cx="962981" cy="3569770"/>
            </a:xfrm>
            <a:custGeom>
              <a:avLst/>
              <a:gdLst/>
              <a:ahLst/>
              <a:cxnLst/>
              <a:rect l="l" t="t" r="r" b="b"/>
              <a:pathLst>
                <a:path w="962981" h="3569770">
                  <a:moveTo>
                    <a:pt x="0" y="0"/>
                  </a:moveTo>
                  <a:lnTo>
                    <a:pt x="962981" y="0"/>
                  </a:lnTo>
                  <a:lnTo>
                    <a:pt x="962981" y="3569770"/>
                  </a:lnTo>
                  <a:lnTo>
                    <a:pt x="0" y="3569770"/>
                  </a:lnTo>
                  <a:close/>
                </a:path>
              </a:pathLst>
            </a:custGeom>
            <a:solidFill>
              <a:srgbClr val="FFA800"/>
            </a:solidFill>
          </p:spPr>
          <p:txBody>
            <a:bodyPr/>
            <a:lstStyle/>
            <a:p>
              <a:endParaRPr/>
            </a:p>
          </p:txBody>
        </p:sp>
        <p:sp>
          <p:nvSpPr>
            <p:cNvPr id="19" name="TextBox 19"/>
            <p:cNvSpPr txBox="1"/>
            <p:nvPr/>
          </p:nvSpPr>
          <p:spPr>
            <a:xfrm>
              <a:off x="0" y="-47625"/>
              <a:ext cx="962981" cy="3617395"/>
            </a:xfrm>
            <a:prstGeom prst="rect">
              <a:avLst/>
            </a:prstGeom>
          </p:spPr>
          <p:txBody>
            <a:bodyPr lIns="50800" tIns="50800" rIns="50800" bIns="50800" rtlCol="0" anchor="ctr"/>
            <a:lstStyle/>
            <a:p>
              <a:pPr algn="ctr">
                <a:lnSpc>
                  <a:spcPts val="3359"/>
                </a:lnSpc>
              </a:pPr>
              <a:endParaRPr/>
            </a:p>
          </p:txBody>
        </p:sp>
      </p:grpSp>
      <p:sp>
        <p:nvSpPr>
          <p:cNvPr id="20" name="Freeform 20"/>
          <p:cNvSpPr/>
          <p:nvPr/>
        </p:nvSpPr>
        <p:spPr>
          <a:xfrm rot="-5400000">
            <a:off x="10521962" y="2954981"/>
            <a:ext cx="10721018" cy="4811057"/>
          </a:xfrm>
          <a:custGeom>
            <a:avLst/>
            <a:gdLst/>
            <a:ahLst/>
            <a:cxnLst/>
            <a:rect l="l" t="t" r="r" b="b"/>
            <a:pathLst>
              <a:path w="10721018" h="4811057">
                <a:moveTo>
                  <a:pt x="0" y="0"/>
                </a:moveTo>
                <a:lnTo>
                  <a:pt x="10721019" y="0"/>
                </a:lnTo>
                <a:lnTo>
                  <a:pt x="10721019" y="4811057"/>
                </a:lnTo>
                <a:lnTo>
                  <a:pt x="0" y="4811057"/>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a:p>
        </p:txBody>
      </p:sp>
      <p:sp>
        <p:nvSpPr>
          <p:cNvPr id="21" name="Freeform 21"/>
          <p:cNvSpPr/>
          <p:nvPr/>
        </p:nvSpPr>
        <p:spPr>
          <a:xfrm rot="2700000">
            <a:off x="12453647" y="1692479"/>
            <a:ext cx="5180104" cy="5180104"/>
          </a:xfrm>
          <a:custGeom>
            <a:avLst/>
            <a:gdLst/>
            <a:ahLst/>
            <a:cxnLst/>
            <a:rect l="l" t="t" r="r" b="b"/>
            <a:pathLst>
              <a:path w="5180104" h="5180104">
                <a:moveTo>
                  <a:pt x="0" y="0"/>
                </a:moveTo>
                <a:lnTo>
                  <a:pt x="5180105" y="0"/>
                </a:lnTo>
                <a:lnTo>
                  <a:pt x="5180105" y="5180104"/>
                </a:lnTo>
                <a:lnTo>
                  <a:pt x="0" y="518010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grpSp>
        <p:nvGrpSpPr>
          <p:cNvPr id="22" name="Group 22"/>
          <p:cNvGrpSpPr/>
          <p:nvPr/>
        </p:nvGrpSpPr>
        <p:grpSpPr>
          <a:xfrm>
            <a:off x="11380813" y="-286673"/>
            <a:ext cx="7325774" cy="7325774"/>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7"/>
              <a:stretch>
                <a:fillRect l="-38996" r="-38996"/>
              </a:stretch>
            </a:blipFill>
            <a:ln w="152400" cap="sq">
              <a:solidFill>
                <a:srgbClr val="FFFFFF"/>
              </a:solidFill>
              <a:prstDash val="solid"/>
              <a:miter/>
            </a:ln>
          </p:spPr>
          <p:txBody>
            <a:bodyPr/>
            <a:lstStyle/>
            <a:p>
              <a:endParaRPr/>
            </a:p>
          </p:txBody>
        </p:sp>
      </p:grpSp>
      <p:sp>
        <p:nvSpPr>
          <p:cNvPr id="24" name="Freeform 24"/>
          <p:cNvSpPr/>
          <p:nvPr/>
        </p:nvSpPr>
        <p:spPr>
          <a:xfrm rot="2700000">
            <a:off x="14854464" y="735663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8"/>
            <a:stretch>
              <a:fillRect/>
            </a:stretch>
          </a:blipFill>
        </p:spPr>
        <p:txBody>
          <a:bodyPr/>
          <a:lstStyle/>
          <a:p>
            <a:endParaRPr/>
          </a:p>
        </p:txBody>
      </p:sp>
      <p:grpSp>
        <p:nvGrpSpPr>
          <p:cNvPr id="25" name="Group 25"/>
          <p:cNvGrpSpPr/>
          <p:nvPr/>
        </p:nvGrpSpPr>
        <p:grpSpPr>
          <a:xfrm>
            <a:off x="14330399" y="5822483"/>
            <a:ext cx="5437203" cy="5437203"/>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9"/>
              <a:stretch>
                <a:fillRect l="-25000" r="-25000"/>
              </a:stretch>
            </a:blipFill>
            <a:ln w="152400" cap="sq">
              <a:solidFill>
                <a:srgbClr val="FFFFFF"/>
              </a:solidFill>
              <a:prstDash val="solid"/>
              <a:miter/>
            </a:ln>
          </p:spPr>
          <p:txBody>
            <a:bodyPr/>
            <a:lstStyle/>
            <a:p>
              <a:endParaRPr/>
            </a:p>
          </p:txBody>
        </p:sp>
      </p:grpSp>
      <p:sp>
        <p:nvSpPr>
          <p:cNvPr id="27" name="Freeform 27"/>
          <p:cNvSpPr/>
          <p:nvPr/>
        </p:nvSpPr>
        <p:spPr>
          <a:xfrm rot="-10800000">
            <a:off x="-2795260" y="-1863023"/>
            <a:ext cx="5617474" cy="4114800"/>
          </a:xfrm>
          <a:custGeom>
            <a:avLst/>
            <a:gdLst/>
            <a:ahLst/>
            <a:cxnLst/>
            <a:rect l="l" t="t" r="r" b="b"/>
            <a:pathLst>
              <a:path w="5617474" h="4114800">
                <a:moveTo>
                  <a:pt x="0" y="0"/>
                </a:moveTo>
                <a:lnTo>
                  <a:pt x="5617474" y="0"/>
                </a:lnTo>
                <a:lnTo>
                  <a:pt x="5617474" y="4114800"/>
                </a:lnTo>
                <a:lnTo>
                  <a:pt x="0" y="4114800"/>
                </a:lnTo>
                <a:lnTo>
                  <a:pt x="0" y="0"/>
                </a:lnTo>
                <a:close/>
              </a:path>
            </a:pathLst>
          </a:custGeom>
          <a:blipFill>
            <a:blip>
              <a:alphaModFix amt="15000"/>
              <a:extLst>
                <a:ext uri="{96DAC541-7B7A-43D3-8B79-37D633B846F1}">
                  <asvg:svgBlip xmlns:asvg="http://schemas.microsoft.com/office/drawing/2016/SVG/main" r:embed="rId10"/>
                </a:ext>
              </a:extLst>
            </a:blip>
            <a:stretch>
              <a:fillRect/>
            </a:stretch>
          </a:blipFill>
        </p:spPr>
        <p:txBody>
          <a:bodyPr/>
          <a:lstStyle/>
          <a:p>
            <a:endParaRPr/>
          </a:p>
        </p:txBody>
      </p:sp>
      <p:sp>
        <p:nvSpPr>
          <p:cNvPr id="29" name="AutoShape 29"/>
          <p:cNvSpPr/>
          <p:nvPr/>
        </p:nvSpPr>
        <p:spPr>
          <a:xfrm>
            <a:off x="16500755" y="750682"/>
            <a:ext cx="5079002" cy="5079002"/>
          </a:xfrm>
          <a:prstGeom prst="line">
            <a:avLst/>
          </a:prstGeom>
          <a:ln w="38100" cap="flat">
            <a:solidFill>
              <a:srgbClr val="FFFFFF"/>
            </a:solidFill>
            <a:prstDash val="solid"/>
            <a:headEnd type="none" w="sm" len="sm"/>
            <a:tailEnd type="none" w="sm" len="sm"/>
          </a:ln>
        </p:spPr>
        <p:txBody>
          <a:bodyPr/>
          <a:lstStyle/>
          <a:p>
            <a:endParaRPr/>
          </a:p>
        </p:txBody>
      </p:sp>
      <p:grpSp>
        <p:nvGrpSpPr>
          <p:cNvPr id="30" name="Group 30"/>
          <p:cNvGrpSpPr/>
          <p:nvPr/>
        </p:nvGrpSpPr>
        <p:grpSpPr>
          <a:xfrm rot="-2700000">
            <a:off x="12975539" y="9697237"/>
            <a:ext cx="3086100" cy="3086100"/>
            <a:chOff x="0" y="0"/>
            <a:chExt cx="812800" cy="812800"/>
          </a:xfrm>
        </p:grpSpPr>
        <p:sp>
          <p:nvSpPr>
            <p:cNvPr id="31" name="Freeform 3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47625" cap="sq">
              <a:solidFill>
                <a:srgbClr val="FFFFFF"/>
              </a:solidFill>
              <a:prstDash val="solid"/>
              <a:miter/>
            </a:ln>
          </p:spPr>
          <p:txBody>
            <a:bodyPr/>
            <a:lstStyle/>
            <a:p>
              <a:endParaRPr/>
            </a:p>
          </p:txBody>
        </p:sp>
        <p:sp>
          <p:nvSpPr>
            <p:cNvPr id="32" name="TextBox 32"/>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grpSp>
        <p:nvGrpSpPr>
          <p:cNvPr id="33" name="Group 33"/>
          <p:cNvGrpSpPr/>
          <p:nvPr/>
        </p:nvGrpSpPr>
        <p:grpSpPr>
          <a:xfrm rot="-2700000">
            <a:off x="17898452" y="3963368"/>
            <a:ext cx="3086100" cy="3086100"/>
            <a:chOff x="0" y="0"/>
            <a:chExt cx="812800" cy="812800"/>
          </a:xfrm>
        </p:grpSpPr>
        <p:sp>
          <p:nvSpPr>
            <p:cNvPr id="34" name="Freeform 3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47625" cap="sq">
              <a:solidFill>
                <a:srgbClr val="FFFFFF"/>
              </a:solidFill>
              <a:prstDash val="solid"/>
              <a:miter/>
            </a:ln>
          </p:spPr>
          <p:txBody>
            <a:bodyPr/>
            <a:lstStyle/>
            <a:p>
              <a:endParaRPr/>
            </a:p>
          </p:txBody>
        </p:sp>
        <p:sp>
          <p:nvSpPr>
            <p:cNvPr id="35" name="TextBox 35"/>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sp>
        <p:nvSpPr>
          <p:cNvPr id="36" name="AutoShape 36"/>
          <p:cNvSpPr/>
          <p:nvPr/>
        </p:nvSpPr>
        <p:spPr>
          <a:xfrm>
            <a:off x="13851480" y="9248189"/>
            <a:ext cx="3329195" cy="3329195"/>
          </a:xfrm>
          <a:prstGeom prst="line">
            <a:avLst/>
          </a:prstGeom>
          <a:ln w="38100" cap="flat">
            <a:solidFill>
              <a:srgbClr val="FFFFFF"/>
            </a:solidFill>
            <a:prstDash val="solid"/>
            <a:headEnd type="none" w="sm" len="sm"/>
            <a:tailEnd type="none" w="sm" len="sm"/>
          </a:ln>
        </p:spPr>
        <p:txBody>
          <a:bodyPr/>
          <a:lstStyle/>
          <a:p>
            <a:endParaRPr/>
          </a:p>
        </p:txBody>
      </p:sp>
      <p:sp>
        <p:nvSpPr>
          <p:cNvPr id="37" name="Freeform 37"/>
          <p:cNvSpPr/>
          <p:nvPr/>
        </p:nvSpPr>
        <p:spPr>
          <a:xfrm>
            <a:off x="-726532" y="7688620"/>
            <a:ext cx="3180398" cy="4114800"/>
          </a:xfrm>
          <a:custGeom>
            <a:avLst/>
            <a:gdLst/>
            <a:ahLst/>
            <a:cxnLst/>
            <a:rect l="l" t="t" r="r" b="b"/>
            <a:pathLst>
              <a:path w="3180398" h="4114800">
                <a:moveTo>
                  <a:pt x="0" y="0"/>
                </a:moveTo>
                <a:lnTo>
                  <a:pt x="3180397" y="0"/>
                </a:lnTo>
                <a:lnTo>
                  <a:pt x="3180397" y="4114800"/>
                </a:lnTo>
                <a:lnTo>
                  <a:pt x="0" y="4114800"/>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a:p>
        </p:txBody>
      </p:sp>
      <p:grpSp>
        <p:nvGrpSpPr>
          <p:cNvPr id="38" name="Group 38"/>
          <p:cNvGrpSpPr/>
          <p:nvPr/>
        </p:nvGrpSpPr>
        <p:grpSpPr>
          <a:xfrm rot="-2623598">
            <a:off x="9995865" y="-2255632"/>
            <a:ext cx="3086100" cy="3086100"/>
            <a:chOff x="0" y="0"/>
            <a:chExt cx="812800" cy="812800"/>
          </a:xfrm>
        </p:grpSpPr>
        <p:sp>
          <p:nvSpPr>
            <p:cNvPr id="39" name="Freeform 3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47625" cap="sq">
              <a:solidFill>
                <a:srgbClr val="FFFFFF"/>
              </a:solidFill>
              <a:prstDash val="solid"/>
              <a:miter/>
            </a:ln>
          </p:spPr>
          <p:txBody>
            <a:bodyPr/>
            <a:lstStyle/>
            <a:p>
              <a:endParaRPr/>
            </a:p>
          </p:txBody>
        </p:sp>
        <p:sp>
          <p:nvSpPr>
            <p:cNvPr id="40" name="TextBox 40"/>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grpSp>
        <p:nvGrpSpPr>
          <p:cNvPr id="41" name="Group 41"/>
          <p:cNvGrpSpPr/>
          <p:nvPr/>
        </p:nvGrpSpPr>
        <p:grpSpPr>
          <a:xfrm>
            <a:off x="-858948" y="6010723"/>
            <a:ext cx="7105525" cy="907969"/>
            <a:chOff x="0" y="0"/>
            <a:chExt cx="4770570" cy="609600"/>
          </a:xfrm>
        </p:grpSpPr>
        <p:sp>
          <p:nvSpPr>
            <p:cNvPr id="42" name="Freeform 42"/>
            <p:cNvSpPr/>
            <p:nvPr/>
          </p:nvSpPr>
          <p:spPr>
            <a:xfrm>
              <a:off x="0" y="0"/>
              <a:ext cx="4770570" cy="609600"/>
            </a:xfrm>
            <a:custGeom>
              <a:avLst/>
              <a:gdLst/>
              <a:ahLst/>
              <a:cxnLst/>
              <a:rect l="l" t="t" r="r" b="b"/>
              <a:pathLst>
                <a:path w="4770570" h="609600">
                  <a:moveTo>
                    <a:pt x="4567370" y="0"/>
                  </a:moveTo>
                  <a:lnTo>
                    <a:pt x="0" y="0"/>
                  </a:lnTo>
                  <a:lnTo>
                    <a:pt x="203200" y="609600"/>
                  </a:lnTo>
                  <a:lnTo>
                    <a:pt x="4770570" y="609600"/>
                  </a:lnTo>
                  <a:lnTo>
                    <a:pt x="4567370" y="0"/>
                  </a:lnTo>
                  <a:close/>
                </a:path>
              </a:pathLst>
            </a:custGeom>
            <a:ln w="38100" cap="sq">
              <a:solidFill>
                <a:srgbClr val="FFA800"/>
              </a:solidFill>
              <a:prstDash val="solid"/>
              <a:miter/>
            </a:ln>
          </p:spPr>
          <p:txBody>
            <a:bodyPr/>
            <a:lstStyle/>
            <a:p>
              <a:endParaRPr/>
            </a:p>
          </p:txBody>
        </p:sp>
        <p:sp>
          <p:nvSpPr>
            <p:cNvPr id="43" name="TextBox 43"/>
            <p:cNvSpPr txBox="1"/>
            <p:nvPr/>
          </p:nvSpPr>
          <p:spPr>
            <a:xfrm>
              <a:off x="101600" y="-47625"/>
              <a:ext cx="4567370" cy="657225"/>
            </a:xfrm>
            <a:prstGeom prst="rect">
              <a:avLst/>
            </a:prstGeom>
          </p:spPr>
          <p:txBody>
            <a:bodyPr lIns="50800" tIns="50800" rIns="50800" bIns="50800" rtlCol="0" anchor="ctr"/>
            <a:lstStyle/>
            <a:p>
              <a:pPr algn="ctr">
                <a:lnSpc>
                  <a:spcPts val="3359"/>
                </a:lnSpc>
              </a:pPr>
              <a:endParaRPr/>
            </a:p>
          </p:txBody>
        </p:sp>
      </p:grpSp>
      <p:sp>
        <p:nvSpPr>
          <p:cNvPr id="44" name="TextBox 44"/>
          <p:cNvSpPr txBox="1"/>
          <p:nvPr/>
        </p:nvSpPr>
        <p:spPr>
          <a:xfrm>
            <a:off x="835475" y="1380948"/>
            <a:ext cx="9692640" cy="3566160"/>
          </a:xfrm>
          <a:prstGeom prst="rect">
            <a:avLst/>
          </a:prstGeom>
        </p:spPr>
        <p:txBody>
          <a:bodyPr wrap="square" lIns="0" tIns="0" rIns="0" bIns="0" rtlCol="0" anchor="t"/>
          <a:lstStyle/>
          <a:p>
            <a:pPr algn="l">
              <a:lnSpc>
                <a:spcPct val="90000"/>
              </a:lnSpc>
              <a:spcAft>
                <a:spcPts val="0"/>
              </a:spcAft>
            </a:pPr>
            <a:r>
              <a:rPr sz="7600" b="1" dirty="0">
                <a:solidFill>
                  <a:srgbClr val="000000"/>
                </a:solidFill>
                <a:latin typeface="Arial"/>
              </a:rPr>
              <a:t>INTELLIGENT</a:t>
            </a:r>
          </a:p>
          <a:p>
            <a:pPr algn="l">
              <a:lnSpc>
                <a:spcPct val="90000"/>
              </a:lnSpc>
              <a:spcAft>
                <a:spcPts val="0"/>
              </a:spcAft>
            </a:pPr>
            <a:r>
              <a:rPr sz="7600" b="1" dirty="0">
                <a:solidFill>
                  <a:srgbClr val="000000"/>
                </a:solidFill>
                <a:latin typeface="Arial"/>
              </a:rPr>
              <a:t>PROCUREMENT</a:t>
            </a:r>
          </a:p>
          <a:p>
            <a:pPr algn="l">
              <a:lnSpc>
                <a:spcPct val="90000"/>
              </a:lnSpc>
              <a:spcAft>
                <a:spcPts val="0"/>
              </a:spcAft>
            </a:pPr>
            <a:r>
              <a:rPr sz="7600" b="1" dirty="0">
                <a:solidFill>
                  <a:srgbClr val="000000"/>
                </a:solidFill>
                <a:latin typeface="Arial"/>
              </a:rPr>
              <a:t>AI AGENT</a:t>
            </a:r>
          </a:p>
        </p:txBody>
      </p:sp>
      <p:sp>
        <p:nvSpPr>
          <p:cNvPr id="45" name="TextBox 45"/>
          <p:cNvSpPr txBox="1"/>
          <p:nvPr/>
        </p:nvSpPr>
        <p:spPr>
          <a:xfrm>
            <a:off x="2185371" y="905076"/>
            <a:ext cx="4572000" cy="335280"/>
          </a:xfrm>
          <a:prstGeom prst="rect">
            <a:avLst/>
          </a:prstGeom>
        </p:spPr>
        <p:txBody>
          <a:bodyPr wrap="square" lIns="0" tIns="0" rIns="0" bIns="0" rtlCol="0" anchor="t"/>
          <a:lstStyle/>
          <a:p>
            <a:pPr algn="l">
              <a:lnSpc>
                <a:spcPct val="110000"/>
              </a:lnSpc>
            </a:pPr>
            <a:endParaRPr sz="2400" b="1" dirty="0">
              <a:solidFill>
                <a:srgbClr val="000000"/>
              </a:solidFill>
              <a:latin typeface="Arial"/>
            </a:endParaRPr>
          </a:p>
        </p:txBody>
      </p:sp>
      <p:sp>
        <p:nvSpPr>
          <p:cNvPr id="46" name="TextBox 46"/>
          <p:cNvSpPr txBox="1"/>
          <p:nvPr/>
        </p:nvSpPr>
        <p:spPr>
          <a:xfrm>
            <a:off x="2185371" y="1240356"/>
            <a:ext cx="4572000" cy="197502"/>
          </a:xfrm>
          <a:prstGeom prst="rect">
            <a:avLst/>
          </a:prstGeom>
        </p:spPr>
        <p:txBody>
          <a:bodyPr wrap="square" lIns="0" tIns="0" rIns="0" bIns="0" rtlCol="0" anchor="t"/>
          <a:lstStyle/>
          <a:p>
            <a:pPr algn="l">
              <a:lnSpc>
                <a:spcPct val="110000"/>
              </a:lnSpc>
            </a:pPr>
            <a:endParaRPr sz="1300" b="0" dirty="0">
              <a:solidFill>
                <a:srgbClr val="000000"/>
              </a:solidFill>
              <a:latin typeface="Arial"/>
            </a:endParaRPr>
          </a:p>
        </p:txBody>
      </p:sp>
      <p:sp>
        <p:nvSpPr>
          <p:cNvPr id="47" name="TextBox 47"/>
          <p:cNvSpPr txBox="1"/>
          <p:nvPr/>
        </p:nvSpPr>
        <p:spPr>
          <a:xfrm>
            <a:off x="863667" y="6289548"/>
            <a:ext cx="3051732" cy="407018"/>
          </a:xfrm>
          <a:prstGeom prst="rect">
            <a:avLst/>
          </a:prstGeom>
        </p:spPr>
        <p:txBody>
          <a:bodyPr wrap="square" lIns="0" tIns="0" rIns="0" bIns="0" rtlCol="0" anchor="t"/>
          <a:lstStyle/>
          <a:p>
            <a:pPr algn="l">
              <a:lnSpc>
                <a:spcPct val="110000"/>
              </a:lnSpc>
            </a:pPr>
            <a:r>
              <a:rPr sz="2800" b="1" dirty="0">
                <a:solidFill>
                  <a:srgbClr val="000000"/>
                </a:solidFill>
                <a:latin typeface="Arial"/>
              </a:rPr>
              <a:t>OCTOBER 2026</a:t>
            </a:r>
          </a:p>
        </p:txBody>
      </p:sp>
      <p:sp>
        <p:nvSpPr>
          <p:cNvPr id="48" name="TextBox 48"/>
          <p:cNvSpPr txBox="1"/>
          <p:nvPr/>
        </p:nvSpPr>
        <p:spPr>
          <a:xfrm>
            <a:off x="804245" y="7409095"/>
            <a:ext cx="8229600" cy="678180"/>
          </a:xfrm>
          <a:prstGeom prst="rect">
            <a:avLst/>
          </a:prstGeom>
        </p:spPr>
        <p:txBody>
          <a:bodyPr wrap="square" lIns="0" tIns="0" rIns="0" bIns="0" rtlCol="0" anchor="t"/>
          <a:lstStyle/>
          <a:p>
            <a:pPr algn="l">
              <a:lnSpc>
                <a:spcPct val="110000"/>
              </a:lnSpc>
            </a:pPr>
            <a:r>
              <a:rPr sz="2400" b="1" dirty="0">
                <a:solidFill>
                  <a:srgbClr val="000000"/>
                </a:solidFill>
                <a:latin typeface="Arial"/>
              </a:rPr>
              <a:t>PRESENTED BY: SHYRINE OURARI</a:t>
            </a:r>
          </a:p>
        </p:txBody>
      </p:sp>
      <p:sp>
        <p:nvSpPr>
          <p:cNvPr id="49" name="TextBox 49"/>
          <p:cNvSpPr txBox="1"/>
          <p:nvPr/>
        </p:nvSpPr>
        <p:spPr>
          <a:xfrm>
            <a:off x="776535" y="4730777"/>
            <a:ext cx="9326880" cy="868680"/>
          </a:xfrm>
          <a:prstGeom prst="rect">
            <a:avLst/>
          </a:prstGeom>
        </p:spPr>
        <p:txBody>
          <a:bodyPr wrap="square" lIns="0" tIns="0" rIns="0" bIns="0" rtlCol="0" anchor="t"/>
          <a:lstStyle/>
          <a:p>
            <a:pPr algn="l">
              <a:lnSpc>
                <a:spcPct val="110000"/>
              </a:lnSpc>
            </a:pPr>
            <a:r>
              <a:rPr sz="2400" b="0" dirty="0">
                <a:solidFill>
                  <a:srgbClr val="000000"/>
                </a:solidFill>
                <a:latin typeface="Arial"/>
              </a:rPr>
              <a:t>An AI agent that flags late and risky purchase orders, built on simulated SAP data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980" y="4432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dirty="0"/>
          </a:p>
        </p:txBody>
      </p:sp>
      <p:sp>
        <p:nvSpPr>
          <p:cNvPr id="3" name="Freeform 3"/>
          <p:cNvSpPr/>
          <p:nvPr/>
        </p:nvSpPr>
        <p:spPr>
          <a:xfrm rot="-10800000" flipH="1">
            <a:off x="17070104" y="-792141"/>
            <a:ext cx="5878943" cy="6596289"/>
          </a:xfrm>
          <a:custGeom>
            <a:avLst/>
            <a:gdLst/>
            <a:ahLst/>
            <a:cxnLst/>
            <a:rect l="l" t="t" r="r" b="b"/>
            <a:pathLst>
              <a:path w="5878943" h="6596289">
                <a:moveTo>
                  <a:pt x="5878943" y="0"/>
                </a:moveTo>
                <a:lnTo>
                  <a:pt x="0" y="0"/>
                </a:lnTo>
                <a:lnTo>
                  <a:pt x="0" y="6596289"/>
                </a:lnTo>
                <a:lnTo>
                  <a:pt x="5878943" y="6596289"/>
                </a:lnTo>
                <a:lnTo>
                  <a:pt x="587894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4" name="Freeform 4"/>
          <p:cNvSpPr/>
          <p:nvPr/>
        </p:nvSpPr>
        <p:spPr>
          <a:xfrm>
            <a:off x="1188745" y="6339898"/>
            <a:ext cx="4938934" cy="2821366"/>
          </a:xfrm>
          <a:custGeom>
            <a:avLst/>
            <a:gdLst/>
            <a:ahLst/>
            <a:cxnLst/>
            <a:rect l="l" t="t" r="r" b="b"/>
            <a:pathLst>
              <a:path w="4938934" h="2821366">
                <a:moveTo>
                  <a:pt x="0" y="0"/>
                </a:moveTo>
                <a:lnTo>
                  <a:pt x="4938935" y="0"/>
                </a:lnTo>
                <a:lnTo>
                  <a:pt x="4938935" y="2821366"/>
                </a:lnTo>
                <a:lnTo>
                  <a:pt x="0" y="2821366"/>
                </a:lnTo>
                <a:lnTo>
                  <a:pt x="0" y="0"/>
                </a:lnTo>
                <a:close/>
              </a:path>
            </a:pathLst>
          </a:custGeom>
          <a:blipFill>
            <a:blip>
              <a:alphaModFix amt="44999"/>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a:p>
        </p:txBody>
      </p:sp>
      <p:sp>
        <p:nvSpPr>
          <p:cNvPr id="5" name="Freeform 5"/>
          <p:cNvSpPr/>
          <p:nvPr/>
        </p:nvSpPr>
        <p:spPr>
          <a:xfrm>
            <a:off x="-3922622" y="8221747"/>
            <a:ext cx="6963484" cy="7301163"/>
          </a:xfrm>
          <a:custGeom>
            <a:avLst/>
            <a:gdLst/>
            <a:ahLst/>
            <a:cxnLst/>
            <a:rect l="l" t="t" r="r" b="b"/>
            <a:pathLst>
              <a:path w="6963484" h="7301163">
                <a:moveTo>
                  <a:pt x="0" y="0"/>
                </a:moveTo>
                <a:lnTo>
                  <a:pt x="6963484" y="0"/>
                </a:lnTo>
                <a:lnTo>
                  <a:pt x="6963484" y="7301163"/>
                </a:lnTo>
                <a:lnTo>
                  <a:pt x="0" y="730116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grpSp>
        <p:nvGrpSpPr>
          <p:cNvPr id="6" name="Group 6"/>
          <p:cNvGrpSpPr/>
          <p:nvPr/>
        </p:nvGrpSpPr>
        <p:grpSpPr>
          <a:xfrm rot="-2634846">
            <a:off x="12266256" y="-10530844"/>
            <a:ext cx="5230997" cy="12991103"/>
            <a:chOff x="0" y="0"/>
            <a:chExt cx="1377711" cy="3421525"/>
          </a:xfrm>
        </p:grpSpPr>
        <p:sp>
          <p:nvSpPr>
            <p:cNvPr id="7" name="Freeform 7"/>
            <p:cNvSpPr/>
            <p:nvPr/>
          </p:nvSpPr>
          <p:spPr>
            <a:xfrm>
              <a:off x="0" y="0"/>
              <a:ext cx="1377711" cy="3421525"/>
            </a:xfrm>
            <a:custGeom>
              <a:avLst/>
              <a:gdLst/>
              <a:ahLst/>
              <a:cxnLst/>
              <a:rect l="l" t="t" r="r" b="b"/>
              <a:pathLst>
                <a:path w="1377711" h="3421525">
                  <a:moveTo>
                    <a:pt x="0" y="0"/>
                  </a:moveTo>
                  <a:lnTo>
                    <a:pt x="1377711" y="0"/>
                  </a:lnTo>
                  <a:lnTo>
                    <a:pt x="1377711" y="3421525"/>
                  </a:lnTo>
                  <a:lnTo>
                    <a:pt x="0" y="3421525"/>
                  </a:lnTo>
                  <a:close/>
                </a:path>
              </a:pathLst>
            </a:custGeom>
            <a:solidFill>
              <a:srgbClr val="FFA800"/>
            </a:solidFill>
          </p:spPr>
          <p:txBody>
            <a:bodyPr/>
            <a:lstStyle/>
            <a:p>
              <a:endParaRPr/>
            </a:p>
          </p:txBody>
        </p:sp>
        <p:sp>
          <p:nvSpPr>
            <p:cNvPr id="8" name="TextBox 8"/>
            <p:cNvSpPr txBox="1"/>
            <p:nvPr/>
          </p:nvSpPr>
          <p:spPr>
            <a:xfrm>
              <a:off x="0" y="-47625"/>
              <a:ext cx="1377711" cy="3469150"/>
            </a:xfrm>
            <a:prstGeom prst="rect">
              <a:avLst/>
            </a:prstGeom>
          </p:spPr>
          <p:txBody>
            <a:bodyPr lIns="50800" tIns="50800" rIns="50800" bIns="50800" rtlCol="0" anchor="ctr"/>
            <a:lstStyle/>
            <a:p>
              <a:pPr algn="ctr">
                <a:lnSpc>
                  <a:spcPts val="3359"/>
                </a:lnSpc>
              </a:pPr>
              <a:endParaRPr/>
            </a:p>
          </p:txBody>
        </p:sp>
      </p:grpSp>
      <p:grpSp>
        <p:nvGrpSpPr>
          <p:cNvPr id="9" name="Group 9"/>
          <p:cNvGrpSpPr/>
          <p:nvPr/>
        </p:nvGrpSpPr>
        <p:grpSpPr>
          <a:xfrm rot="-2634846">
            <a:off x="12266256" y="-11344211"/>
            <a:ext cx="5230997" cy="12991103"/>
            <a:chOff x="0" y="0"/>
            <a:chExt cx="1377711" cy="3421525"/>
          </a:xfrm>
        </p:grpSpPr>
        <p:sp>
          <p:nvSpPr>
            <p:cNvPr id="10" name="Freeform 10"/>
            <p:cNvSpPr/>
            <p:nvPr/>
          </p:nvSpPr>
          <p:spPr>
            <a:xfrm>
              <a:off x="0" y="0"/>
              <a:ext cx="1377711" cy="3421525"/>
            </a:xfrm>
            <a:custGeom>
              <a:avLst/>
              <a:gdLst/>
              <a:ahLst/>
              <a:cxnLst/>
              <a:rect l="l" t="t" r="r" b="b"/>
              <a:pathLst>
                <a:path w="1377711" h="3421525">
                  <a:moveTo>
                    <a:pt x="0" y="0"/>
                  </a:moveTo>
                  <a:lnTo>
                    <a:pt x="1377711" y="0"/>
                  </a:lnTo>
                  <a:lnTo>
                    <a:pt x="1377711" y="3421525"/>
                  </a:lnTo>
                  <a:lnTo>
                    <a:pt x="0" y="3421525"/>
                  </a:lnTo>
                  <a:close/>
                </a:path>
              </a:pathLst>
            </a:custGeom>
            <a:solidFill>
              <a:srgbClr val="632103"/>
            </a:solidFill>
          </p:spPr>
          <p:txBody>
            <a:bodyPr/>
            <a:lstStyle/>
            <a:p>
              <a:endParaRPr/>
            </a:p>
          </p:txBody>
        </p:sp>
        <p:sp>
          <p:nvSpPr>
            <p:cNvPr id="11" name="TextBox 11"/>
            <p:cNvSpPr txBox="1"/>
            <p:nvPr/>
          </p:nvSpPr>
          <p:spPr>
            <a:xfrm>
              <a:off x="0" y="-47625"/>
              <a:ext cx="1377711" cy="3469150"/>
            </a:xfrm>
            <a:prstGeom prst="rect">
              <a:avLst/>
            </a:prstGeom>
          </p:spPr>
          <p:txBody>
            <a:bodyPr lIns="50800" tIns="50800" rIns="50800" bIns="50800" rtlCol="0" anchor="ctr"/>
            <a:lstStyle/>
            <a:p>
              <a:pPr algn="ctr">
                <a:lnSpc>
                  <a:spcPts val="3359"/>
                </a:lnSpc>
              </a:pPr>
              <a:endParaRPr/>
            </a:p>
          </p:txBody>
        </p:sp>
      </p:grpSp>
      <p:sp>
        <p:nvSpPr>
          <p:cNvPr id="12" name="AutoShape 12"/>
          <p:cNvSpPr/>
          <p:nvPr/>
        </p:nvSpPr>
        <p:spPr>
          <a:xfrm>
            <a:off x="16951463" y="616102"/>
            <a:ext cx="5079002" cy="5079002"/>
          </a:xfrm>
          <a:prstGeom prst="line">
            <a:avLst/>
          </a:prstGeom>
          <a:ln w="38100" cap="flat">
            <a:solidFill>
              <a:srgbClr val="FFFFFF"/>
            </a:solidFill>
            <a:prstDash val="solid"/>
            <a:headEnd type="none" w="sm" len="sm"/>
            <a:tailEnd type="none" w="sm" len="sm"/>
          </a:ln>
        </p:spPr>
        <p:txBody>
          <a:bodyPr/>
          <a:lstStyle/>
          <a:p>
            <a:endParaRPr/>
          </a:p>
        </p:txBody>
      </p:sp>
      <p:sp>
        <p:nvSpPr>
          <p:cNvPr id="13" name="AutoShape 13"/>
          <p:cNvSpPr/>
          <p:nvPr/>
        </p:nvSpPr>
        <p:spPr>
          <a:xfrm>
            <a:off x="301405" y="9004626"/>
            <a:ext cx="3780187" cy="3799866"/>
          </a:xfrm>
          <a:prstGeom prst="line">
            <a:avLst/>
          </a:prstGeom>
          <a:ln w="38100" cap="flat">
            <a:solidFill>
              <a:srgbClr val="FFFFFF"/>
            </a:solidFill>
            <a:prstDash val="solid"/>
            <a:headEnd type="none" w="sm" len="sm"/>
            <a:tailEnd type="none" w="sm" len="sm"/>
          </a:ln>
        </p:spPr>
        <p:txBody>
          <a:bodyPr/>
          <a:lstStyle/>
          <a:p>
            <a:endParaRPr/>
          </a:p>
        </p:txBody>
      </p:sp>
      <p:grpSp>
        <p:nvGrpSpPr>
          <p:cNvPr id="14" name="Group 14"/>
          <p:cNvGrpSpPr/>
          <p:nvPr/>
        </p:nvGrpSpPr>
        <p:grpSpPr>
          <a:xfrm>
            <a:off x="1188745" y="4482100"/>
            <a:ext cx="4945187" cy="788649"/>
            <a:chOff x="0" y="0"/>
            <a:chExt cx="1426712" cy="227529"/>
          </a:xfrm>
        </p:grpSpPr>
        <p:sp>
          <p:nvSpPr>
            <p:cNvPr id="15" name="Freeform 15"/>
            <p:cNvSpPr/>
            <p:nvPr/>
          </p:nvSpPr>
          <p:spPr>
            <a:xfrm>
              <a:off x="0" y="0"/>
              <a:ext cx="1426712" cy="227529"/>
            </a:xfrm>
            <a:custGeom>
              <a:avLst/>
              <a:gdLst/>
              <a:ahLst/>
              <a:cxnLst/>
              <a:rect l="l" t="t" r="r" b="b"/>
              <a:pathLst>
                <a:path w="1426712" h="227529">
                  <a:moveTo>
                    <a:pt x="0" y="0"/>
                  </a:moveTo>
                  <a:lnTo>
                    <a:pt x="1426712" y="0"/>
                  </a:lnTo>
                  <a:lnTo>
                    <a:pt x="1426712" y="227529"/>
                  </a:lnTo>
                  <a:lnTo>
                    <a:pt x="0" y="227529"/>
                  </a:lnTo>
                  <a:close/>
                </a:path>
              </a:pathLst>
            </a:custGeom>
            <a:solidFill>
              <a:srgbClr val="632103"/>
            </a:solidFill>
          </p:spPr>
          <p:txBody>
            <a:bodyPr/>
            <a:lstStyle/>
            <a:p>
              <a:endParaRPr/>
            </a:p>
          </p:txBody>
        </p:sp>
        <p:sp>
          <p:nvSpPr>
            <p:cNvPr id="16" name="TextBox 16"/>
            <p:cNvSpPr txBox="1"/>
            <p:nvPr/>
          </p:nvSpPr>
          <p:spPr>
            <a:xfrm>
              <a:off x="0" y="-47625"/>
              <a:ext cx="1426712" cy="275154"/>
            </a:xfrm>
            <a:prstGeom prst="rect">
              <a:avLst/>
            </a:prstGeom>
          </p:spPr>
          <p:txBody>
            <a:bodyPr lIns="50800" tIns="50800" rIns="50800" bIns="50800" rtlCol="0" anchor="ctr"/>
            <a:lstStyle/>
            <a:p>
              <a:pPr algn="ctr">
                <a:lnSpc>
                  <a:spcPts val="3359"/>
                </a:lnSpc>
              </a:pPr>
              <a:endParaRPr/>
            </a:p>
          </p:txBody>
        </p:sp>
      </p:grpSp>
      <p:grpSp>
        <p:nvGrpSpPr>
          <p:cNvPr id="17" name="Group 17"/>
          <p:cNvGrpSpPr/>
          <p:nvPr/>
        </p:nvGrpSpPr>
        <p:grpSpPr>
          <a:xfrm>
            <a:off x="6671406" y="4482100"/>
            <a:ext cx="4945187" cy="788649"/>
            <a:chOff x="0" y="0"/>
            <a:chExt cx="1426712" cy="227529"/>
          </a:xfrm>
        </p:grpSpPr>
        <p:sp>
          <p:nvSpPr>
            <p:cNvPr id="18" name="Freeform 18"/>
            <p:cNvSpPr/>
            <p:nvPr/>
          </p:nvSpPr>
          <p:spPr>
            <a:xfrm>
              <a:off x="0" y="0"/>
              <a:ext cx="1426712" cy="227529"/>
            </a:xfrm>
            <a:custGeom>
              <a:avLst/>
              <a:gdLst/>
              <a:ahLst/>
              <a:cxnLst/>
              <a:rect l="l" t="t" r="r" b="b"/>
              <a:pathLst>
                <a:path w="1426712" h="227529">
                  <a:moveTo>
                    <a:pt x="0" y="0"/>
                  </a:moveTo>
                  <a:lnTo>
                    <a:pt x="1426712" y="0"/>
                  </a:lnTo>
                  <a:lnTo>
                    <a:pt x="1426712" y="227529"/>
                  </a:lnTo>
                  <a:lnTo>
                    <a:pt x="0" y="227529"/>
                  </a:lnTo>
                  <a:close/>
                </a:path>
              </a:pathLst>
            </a:custGeom>
            <a:solidFill>
              <a:srgbClr val="FF5100"/>
            </a:solidFill>
          </p:spPr>
          <p:txBody>
            <a:bodyPr/>
            <a:lstStyle/>
            <a:p>
              <a:endParaRPr/>
            </a:p>
          </p:txBody>
        </p:sp>
        <p:sp>
          <p:nvSpPr>
            <p:cNvPr id="19" name="TextBox 19"/>
            <p:cNvSpPr txBox="1"/>
            <p:nvPr/>
          </p:nvSpPr>
          <p:spPr>
            <a:xfrm>
              <a:off x="0" y="-47625"/>
              <a:ext cx="1426712" cy="275154"/>
            </a:xfrm>
            <a:prstGeom prst="rect">
              <a:avLst/>
            </a:prstGeom>
          </p:spPr>
          <p:txBody>
            <a:bodyPr lIns="50800" tIns="50800" rIns="50800" bIns="50800" rtlCol="0" anchor="ctr"/>
            <a:lstStyle/>
            <a:p>
              <a:pPr algn="ctr">
                <a:lnSpc>
                  <a:spcPts val="3359"/>
                </a:lnSpc>
              </a:pPr>
              <a:endParaRPr/>
            </a:p>
          </p:txBody>
        </p:sp>
      </p:grpSp>
      <p:grpSp>
        <p:nvGrpSpPr>
          <p:cNvPr id="20" name="Group 20"/>
          <p:cNvGrpSpPr/>
          <p:nvPr/>
        </p:nvGrpSpPr>
        <p:grpSpPr>
          <a:xfrm>
            <a:off x="12154067" y="4482100"/>
            <a:ext cx="4945187" cy="788649"/>
            <a:chOff x="0" y="0"/>
            <a:chExt cx="1426712" cy="227529"/>
          </a:xfrm>
        </p:grpSpPr>
        <p:sp>
          <p:nvSpPr>
            <p:cNvPr id="21" name="Freeform 21"/>
            <p:cNvSpPr/>
            <p:nvPr/>
          </p:nvSpPr>
          <p:spPr>
            <a:xfrm>
              <a:off x="0" y="0"/>
              <a:ext cx="1426712" cy="227529"/>
            </a:xfrm>
            <a:custGeom>
              <a:avLst/>
              <a:gdLst/>
              <a:ahLst/>
              <a:cxnLst/>
              <a:rect l="l" t="t" r="r" b="b"/>
              <a:pathLst>
                <a:path w="1426712" h="227529">
                  <a:moveTo>
                    <a:pt x="0" y="0"/>
                  </a:moveTo>
                  <a:lnTo>
                    <a:pt x="1426712" y="0"/>
                  </a:lnTo>
                  <a:lnTo>
                    <a:pt x="1426712" y="227529"/>
                  </a:lnTo>
                  <a:lnTo>
                    <a:pt x="0" y="227529"/>
                  </a:lnTo>
                  <a:close/>
                </a:path>
              </a:pathLst>
            </a:custGeom>
            <a:solidFill>
              <a:srgbClr val="FFA800"/>
            </a:solidFill>
          </p:spPr>
          <p:txBody>
            <a:bodyPr/>
            <a:lstStyle/>
            <a:p>
              <a:endParaRPr/>
            </a:p>
          </p:txBody>
        </p:sp>
        <p:sp>
          <p:nvSpPr>
            <p:cNvPr id="22" name="TextBox 22"/>
            <p:cNvSpPr txBox="1"/>
            <p:nvPr/>
          </p:nvSpPr>
          <p:spPr>
            <a:xfrm>
              <a:off x="0" y="-47625"/>
              <a:ext cx="1426712" cy="275154"/>
            </a:xfrm>
            <a:prstGeom prst="rect">
              <a:avLst/>
            </a:prstGeom>
          </p:spPr>
          <p:txBody>
            <a:bodyPr lIns="50800" tIns="50800" rIns="50800" bIns="50800" rtlCol="0" anchor="ctr"/>
            <a:lstStyle/>
            <a:p>
              <a:pPr algn="ctr">
                <a:lnSpc>
                  <a:spcPts val="3359"/>
                </a:lnSpc>
              </a:pPr>
              <a:endParaRPr/>
            </a:p>
          </p:txBody>
        </p:sp>
      </p:grpSp>
      <p:grpSp>
        <p:nvGrpSpPr>
          <p:cNvPr id="23" name="Group 23"/>
          <p:cNvGrpSpPr/>
          <p:nvPr/>
        </p:nvGrpSpPr>
        <p:grpSpPr>
          <a:xfrm>
            <a:off x="1188745" y="4778378"/>
            <a:ext cx="4945187" cy="3871699"/>
            <a:chOff x="0" y="0"/>
            <a:chExt cx="1426712" cy="1117005"/>
          </a:xfrm>
        </p:grpSpPr>
        <p:sp>
          <p:nvSpPr>
            <p:cNvPr id="24" name="Freeform 24"/>
            <p:cNvSpPr/>
            <p:nvPr/>
          </p:nvSpPr>
          <p:spPr>
            <a:xfrm>
              <a:off x="0" y="0"/>
              <a:ext cx="1426712" cy="1117005"/>
            </a:xfrm>
            <a:custGeom>
              <a:avLst/>
              <a:gdLst/>
              <a:ahLst/>
              <a:cxnLst/>
              <a:rect l="l" t="t" r="r" b="b"/>
              <a:pathLst>
                <a:path w="1426712" h="1117005">
                  <a:moveTo>
                    <a:pt x="0" y="0"/>
                  </a:moveTo>
                  <a:lnTo>
                    <a:pt x="1426712" y="0"/>
                  </a:lnTo>
                  <a:lnTo>
                    <a:pt x="1426712" y="1117005"/>
                  </a:lnTo>
                  <a:lnTo>
                    <a:pt x="0" y="1117005"/>
                  </a:lnTo>
                  <a:close/>
                </a:path>
              </a:pathLst>
            </a:custGeom>
            <a:solidFill>
              <a:srgbClr val="E0D8C7"/>
            </a:solidFill>
          </p:spPr>
          <p:txBody>
            <a:bodyPr/>
            <a:lstStyle/>
            <a:p>
              <a:endParaRPr/>
            </a:p>
          </p:txBody>
        </p:sp>
        <p:sp>
          <p:nvSpPr>
            <p:cNvPr id="25" name="TextBox 25"/>
            <p:cNvSpPr txBox="1"/>
            <p:nvPr/>
          </p:nvSpPr>
          <p:spPr>
            <a:xfrm>
              <a:off x="0" y="-47625"/>
              <a:ext cx="1426712" cy="1164630"/>
            </a:xfrm>
            <a:prstGeom prst="rect">
              <a:avLst/>
            </a:prstGeom>
          </p:spPr>
          <p:txBody>
            <a:bodyPr lIns="50800" tIns="50800" rIns="50800" bIns="50800" rtlCol="0" anchor="ctr"/>
            <a:lstStyle/>
            <a:p>
              <a:pPr algn="ctr">
                <a:lnSpc>
                  <a:spcPts val="3359"/>
                </a:lnSpc>
              </a:pPr>
              <a:endParaRPr/>
            </a:p>
          </p:txBody>
        </p:sp>
      </p:grpSp>
      <p:sp>
        <p:nvSpPr>
          <p:cNvPr id="26" name="Freeform 26"/>
          <p:cNvSpPr/>
          <p:nvPr/>
        </p:nvSpPr>
        <p:spPr>
          <a:xfrm>
            <a:off x="6671406" y="6338112"/>
            <a:ext cx="4945187" cy="2824938"/>
          </a:xfrm>
          <a:custGeom>
            <a:avLst/>
            <a:gdLst/>
            <a:ahLst/>
            <a:cxnLst/>
            <a:rect l="l" t="t" r="r" b="b"/>
            <a:pathLst>
              <a:path w="4945187" h="2824938">
                <a:moveTo>
                  <a:pt x="0" y="0"/>
                </a:moveTo>
                <a:lnTo>
                  <a:pt x="4945188" y="0"/>
                </a:lnTo>
                <a:lnTo>
                  <a:pt x="4945188" y="2824938"/>
                </a:lnTo>
                <a:lnTo>
                  <a:pt x="0" y="2824938"/>
                </a:lnTo>
                <a:lnTo>
                  <a:pt x="0" y="0"/>
                </a:lnTo>
                <a:close/>
              </a:path>
            </a:pathLst>
          </a:custGeom>
          <a:blipFill>
            <a:blip>
              <a:alphaModFix amt="35000"/>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a:p>
        </p:txBody>
      </p:sp>
      <p:grpSp>
        <p:nvGrpSpPr>
          <p:cNvPr id="27" name="Group 27"/>
          <p:cNvGrpSpPr/>
          <p:nvPr/>
        </p:nvGrpSpPr>
        <p:grpSpPr>
          <a:xfrm>
            <a:off x="6671406" y="4778378"/>
            <a:ext cx="4945187" cy="3871699"/>
            <a:chOff x="0" y="0"/>
            <a:chExt cx="1426712" cy="1117005"/>
          </a:xfrm>
        </p:grpSpPr>
        <p:sp>
          <p:nvSpPr>
            <p:cNvPr id="28" name="Freeform 28"/>
            <p:cNvSpPr/>
            <p:nvPr/>
          </p:nvSpPr>
          <p:spPr>
            <a:xfrm>
              <a:off x="0" y="0"/>
              <a:ext cx="1426712" cy="1117005"/>
            </a:xfrm>
            <a:custGeom>
              <a:avLst/>
              <a:gdLst/>
              <a:ahLst/>
              <a:cxnLst/>
              <a:rect l="l" t="t" r="r" b="b"/>
              <a:pathLst>
                <a:path w="1426712" h="1117005">
                  <a:moveTo>
                    <a:pt x="0" y="0"/>
                  </a:moveTo>
                  <a:lnTo>
                    <a:pt x="1426712" y="0"/>
                  </a:lnTo>
                  <a:lnTo>
                    <a:pt x="1426712" y="1117005"/>
                  </a:lnTo>
                  <a:lnTo>
                    <a:pt x="0" y="1117005"/>
                  </a:lnTo>
                  <a:close/>
                </a:path>
              </a:pathLst>
            </a:custGeom>
            <a:solidFill>
              <a:srgbClr val="E0D8C7"/>
            </a:solidFill>
          </p:spPr>
          <p:txBody>
            <a:bodyPr/>
            <a:lstStyle/>
            <a:p>
              <a:endParaRPr/>
            </a:p>
          </p:txBody>
        </p:sp>
        <p:sp>
          <p:nvSpPr>
            <p:cNvPr id="29" name="TextBox 29"/>
            <p:cNvSpPr txBox="1"/>
            <p:nvPr/>
          </p:nvSpPr>
          <p:spPr>
            <a:xfrm>
              <a:off x="0" y="-47625"/>
              <a:ext cx="1426712" cy="1164630"/>
            </a:xfrm>
            <a:prstGeom prst="rect">
              <a:avLst/>
            </a:prstGeom>
          </p:spPr>
          <p:txBody>
            <a:bodyPr lIns="50800" tIns="50800" rIns="50800" bIns="50800" rtlCol="0" anchor="ctr"/>
            <a:lstStyle/>
            <a:p>
              <a:pPr algn="ctr">
                <a:lnSpc>
                  <a:spcPts val="3359"/>
                </a:lnSpc>
              </a:pPr>
              <a:endParaRPr/>
            </a:p>
          </p:txBody>
        </p:sp>
      </p:grpSp>
      <p:sp>
        <p:nvSpPr>
          <p:cNvPr id="30" name="Freeform 30"/>
          <p:cNvSpPr/>
          <p:nvPr/>
        </p:nvSpPr>
        <p:spPr>
          <a:xfrm>
            <a:off x="-2140268" y="6566088"/>
            <a:ext cx="2854642" cy="4114800"/>
          </a:xfrm>
          <a:custGeom>
            <a:avLst/>
            <a:gdLst/>
            <a:ahLst/>
            <a:cxnLst/>
            <a:rect l="l" t="t" r="r" b="b"/>
            <a:pathLst>
              <a:path w="2854642" h="4114800">
                <a:moveTo>
                  <a:pt x="0" y="0"/>
                </a:moveTo>
                <a:lnTo>
                  <a:pt x="2854643" y="0"/>
                </a:lnTo>
                <a:lnTo>
                  <a:pt x="2854643" y="4114800"/>
                </a:lnTo>
                <a:lnTo>
                  <a:pt x="0" y="411480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a:p>
        </p:txBody>
      </p:sp>
      <p:sp>
        <p:nvSpPr>
          <p:cNvPr id="31" name="Freeform 31"/>
          <p:cNvSpPr/>
          <p:nvPr/>
        </p:nvSpPr>
        <p:spPr>
          <a:xfrm>
            <a:off x="12149994" y="6335785"/>
            <a:ext cx="4949261" cy="2827265"/>
          </a:xfrm>
          <a:custGeom>
            <a:avLst/>
            <a:gdLst/>
            <a:ahLst/>
            <a:cxnLst/>
            <a:rect l="l" t="t" r="r" b="b"/>
            <a:pathLst>
              <a:path w="4949261" h="2827265">
                <a:moveTo>
                  <a:pt x="0" y="0"/>
                </a:moveTo>
                <a:lnTo>
                  <a:pt x="4949261" y="0"/>
                </a:lnTo>
                <a:lnTo>
                  <a:pt x="4949261" y="2827265"/>
                </a:lnTo>
                <a:lnTo>
                  <a:pt x="0" y="2827265"/>
                </a:lnTo>
                <a:lnTo>
                  <a:pt x="0" y="0"/>
                </a:lnTo>
                <a:close/>
              </a:path>
            </a:pathLst>
          </a:custGeom>
          <a:blipFill>
            <a:blip>
              <a:alphaModFix amt="35000"/>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a:p>
        </p:txBody>
      </p:sp>
      <p:sp>
        <p:nvSpPr>
          <p:cNvPr id="32" name="Freeform 32"/>
          <p:cNvSpPr/>
          <p:nvPr/>
        </p:nvSpPr>
        <p:spPr>
          <a:xfrm>
            <a:off x="14450563" y="8319443"/>
            <a:ext cx="5617474" cy="4114800"/>
          </a:xfrm>
          <a:custGeom>
            <a:avLst/>
            <a:gdLst/>
            <a:ahLst/>
            <a:cxnLst/>
            <a:rect l="l" t="t" r="r" b="b"/>
            <a:pathLst>
              <a:path w="5617474" h="4114800">
                <a:moveTo>
                  <a:pt x="0" y="0"/>
                </a:moveTo>
                <a:lnTo>
                  <a:pt x="5617474" y="0"/>
                </a:lnTo>
                <a:lnTo>
                  <a:pt x="5617474" y="4114800"/>
                </a:lnTo>
                <a:lnTo>
                  <a:pt x="0" y="4114800"/>
                </a:lnTo>
                <a:lnTo>
                  <a:pt x="0" y="0"/>
                </a:lnTo>
                <a:close/>
              </a:path>
            </a:pathLst>
          </a:custGeom>
          <a:blipFill>
            <a:blip>
              <a:alphaModFix amt="15000"/>
              <a:extLst>
                <a:ext uri="{96DAC541-7B7A-43D3-8B79-37D633B846F1}">
                  <asvg:svgBlip xmlns:asvg="http://schemas.microsoft.com/office/drawing/2016/SVG/main" r:embed="rId10"/>
                </a:ext>
              </a:extLst>
            </a:blip>
            <a:stretch>
              <a:fillRect/>
            </a:stretch>
          </a:blipFill>
        </p:spPr>
        <p:txBody>
          <a:bodyPr/>
          <a:lstStyle/>
          <a:p>
            <a:endParaRPr/>
          </a:p>
        </p:txBody>
      </p:sp>
      <p:grpSp>
        <p:nvGrpSpPr>
          <p:cNvPr id="33" name="Group 33"/>
          <p:cNvGrpSpPr/>
          <p:nvPr/>
        </p:nvGrpSpPr>
        <p:grpSpPr>
          <a:xfrm>
            <a:off x="12154067" y="4778378"/>
            <a:ext cx="4945187" cy="3871699"/>
            <a:chOff x="0" y="0"/>
            <a:chExt cx="1426712" cy="1117005"/>
          </a:xfrm>
        </p:grpSpPr>
        <p:sp>
          <p:nvSpPr>
            <p:cNvPr id="34" name="Freeform 34"/>
            <p:cNvSpPr/>
            <p:nvPr/>
          </p:nvSpPr>
          <p:spPr>
            <a:xfrm>
              <a:off x="0" y="0"/>
              <a:ext cx="1426712" cy="1117005"/>
            </a:xfrm>
            <a:custGeom>
              <a:avLst/>
              <a:gdLst/>
              <a:ahLst/>
              <a:cxnLst/>
              <a:rect l="l" t="t" r="r" b="b"/>
              <a:pathLst>
                <a:path w="1426712" h="1117005">
                  <a:moveTo>
                    <a:pt x="0" y="0"/>
                  </a:moveTo>
                  <a:lnTo>
                    <a:pt x="1426712" y="0"/>
                  </a:lnTo>
                  <a:lnTo>
                    <a:pt x="1426712" y="1117005"/>
                  </a:lnTo>
                  <a:lnTo>
                    <a:pt x="0" y="1117005"/>
                  </a:lnTo>
                  <a:close/>
                </a:path>
              </a:pathLst>
            </a:custGeom>
            <a:solidFill>
              <a:srgbClr val="E0D8C7"/>
            </a:solidFill>
          </p:spPr>
          <p:txBody>
            <a:bodyPr/>
            <a:lstStyle/>
            <a:p>
              <a:endParaRPr/>
            </a:p>
          </p:txBody>
        </p:sp>
        <p:sp>
          <p:nvSpPr>
            <p:cNvPr id="35" name="TextBox 35"/>
            <p:cNvSpPr txBox="1"/>
            <p:nvPr/>
          </p:nvSpPr>
          <p:spPr>
            <a:xfrm>
              <a:off x="0" y="-47625"/>
              <a:ext cx="1426712" cy="1164630"/>
            </a:xfrm>
            <a:prstGeom prst="rect">
              <a:avLst/>
            </a:prstGeom>
          </p:spPr>
          <p:txBody>
            <a:bodyPr lIns="50800" tIns="50800" rIns="50800" bIns="50800" rtlCol="0" anchor="ctr"/>
            <a:lstStyle/>
            <a:p>
              <a:pPr algn="ctr">
                <a:lnSpc>
                  <a:spcPts val="3359"/>
                </a:lnSpc>
              </a:pPr>
              <a:endParaRPr/>
            </a:p>
          </p:txBody>
        </p:sp>
      </p:grpSp>
      <p:grpSp>
        <p:nvGrpSpPr>
          <p:cNvPr id="36" name="Group 36"/>
          <p:cNvGrpSpPr/>
          <p:nvPr/>
        </p:nvGrpSpPr>
        <p:grpSpPr>
          <a:xfrm rot="-2700000">
            <a:off x="16621005" y="-2264128"/>
            <a:ext cx="3086100" cy="3086100"/>
            <a:chOff x="0" y="0"/>
            <a:chExt cx="812800" cy="812800"/>
          </a:xfrm>
        </p:grpSpPr>
        <p:sp>
          <p:nvSpPr>
            <p:cNvPr id="37" name="Freeform 3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47625" cap="sq">
              <a:solidFill>
                <a:srgbClr val="FF5100"/>
              </a:solidFill>
              <a:prstDash val="solid"/>
              <a:miter/>
            </a:ln>
          </p:spPr>
          <p:txBody>
            <a:bodyPr/>
            <a:lstStyle/>
            <a:p>
              <a:endParaRPr/>
            </a:p>
          </p:txBody>
        </p:sp>
        <p:sp>
          <p:nvSpPr>
            <p:cNvPr id="38" name="TextBox 38"/>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sp>
        <p:nvSpPr>
          <p:cNvPr id="39" name="Freeform 39"/>
          <p:cNvSpPr/>
          <p:nvPr/>
        </p:nvSpPr>
        <p:spPr>
          <a:xfrm flipH="1">
            <a:off x="-1813352" y="-864115"/>
            <a:ext cx="3963408" cy="3215314"/>
          </a:xfrm>
          <a:custGeom>
            <a:avLst/>
            <a:gdLst/>
            <a:ahLst/>
            <a:cxnLst/>
            <a:rect l="l" t="t" r="r" b="b"/>
            <a:pathLst>
              <a:path w="3963408" h="3215314">
                <a:moveTo>
                  <a:pt x="3963407" y="0"/>
                </a:moveTo>
                <a:lnTo>
                  <a:pt x="0" y="0"/>
                </a:lnTo>
                <a:lnTo>
                  <a:pt x="0" y="3215315"/>
                </a:lnTo>
                <a:lnTo>
                  <a:pt x="3963407" y="3215315"/>
                </a:lnTo>
                <a:lnTo>
                  <a:pt x="3963407"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a:p>
        </p:txBody>
      </p:sp>
      <p:sp>
        <p:nvSpPr>
          <p:cNvPr id="40" name="TextBox 40"/>
          <p:cNvSpPr txBox="1"/>
          <p:nvPr/>
        </p:nvSpPr>
        <p:spPr>
          <a:xfrm>
            <a:off x="1028700" y="1085850"/>
            <a:ext cx="7223760" cy="2034540"/>
          </a:xfrm>
          <a:prstGeom prst="rect">
            <a:avLst/>
          </a:prstGeom>
        </p:spPr>
        <p:txBody>
          <a:bodyPr wrap="square" lIns="0" tIns="0" rIns="0" bIns="0" rtlCol="0" anchor="t"/>
          <a:lstStyle/>
          <a:p>
            <a:pPr algn="l">
              <a:lnSpc>
                <a:spcPct val="95000"/>
              </a:lnSpc>
              <a:spcAft>
                <a:spcPts val="0"/>
              </a:spcAft>
            </a:pPr>
            <a:r>
              <a:rPr sz="5000" b="1">
                <a:solidFill>
                  <a:srgbClr val="000000"/>
                </a:solidFill>
                <a:latin typeface="Arial"/>
              </a:rPr>
              <a:t>SAP &amp; AGENTIC AI</a:t>
            </a:r>
          </a:p>
          <a:p>
            <a:pPr algn="l">
              <a:lnSpc>
                <a:spcPct val="95000"/>
              </a:lnSpc>
              <a:spcAft>
                <a:spcPts val="0"/>
              </a:spcAft>
            </a:pPr>
            <a:r>
              <a:rPr sz="5000" b="1">
                <a:solidFill>
                  <a:srgbClr val="000000"/>
                </a:solidFill>
                <a:latin typeface="Arial"/>
              </a:rPr>
              <a:t>FUNDAMENTALS</a:t>
            </a:r>
          </a:p>
        </p:txBody>
      </p:sp>
      <p:sp>
        <p:nvSpPr>
          <p:cNvPr id="41" name="TextBox 41"/>
          <p:cNvSpPr txBox="1"/>
          <p:nvPr/>
        </p:nvSpPr>
        <p:spPr>
          <a:xfrm>
            <a:off x="1417320" y="5623560"/>
            <a:ext cx="4526280" cy="2971800"/>
          </a:xfrm>
          <a:prstGeom prst="rect">
            <a:avLst/>
          </a:prstGeom>
        </p:spPr>
        <p:txBody>
          <a:bodyPr wrap="square" lIns="0" tIns="0" rIns="0" bIns="0" rtlCol="0" anchor="t"/>
          <a:lstStyle/>
          <a:p>
            <a:pPr marL="274320" lvl="1" indent="-274320" algn="l">
              <a:lnSpc>
                <a:spcPct val="110000"/>
              </a:lnSpc>
              <a:spcAft>
                <a:spcPts val="900"/>
              </a:spcAft>
              <a:buFont typeface="Arial"/>
              <a:buChar char="•"/>
            </a:pPr>
            <a:r>
              <a:rPr sz="1800" b="1">
                <a:solidFill>
                  <a:srgbClr val="000000"/>
                </a:solidFill>
                <a:latin typeface="Arial"/>
              </a:rPr>
              <a:t>S/4HANA </a:t>
            </a:r>
            <a:r>
              <a:rPr sz="1800" b="0">
                <a:solidFill>
                  <a:srgbClr val="000000"/>
                </a:solidFill>
                <a:latin typeface="Arial"/>
              </a:rPr>
              <a:t>is the ERP core: purchase orders, suppliers, goods receipts and stock.</a:t>
            </a:r>
          </a:p>
          <a:p>
            <a:pPr marL="274320" indent="-274320" algn="l">
              <a:lnSpc>
                <a:spcPct val="110000"/>
              </a:lnSpc>
              <a:spcAft>
                <a:spcPts val="900"/>
              </a:spcAft>
              <a:buFont typeface="Arial"/>
              <a:buChar char="•"/>
            </a:pPr>
            <a:r>
              <a:rPr sz="1800" b="1">
                <a:solidFill>
                  <a:srgbClr val="000000"/>
                </a:solidFill>
                <a:latin typeface="Arial"/>
              </a:rPr>
              <a:t>SAP BTP </a:t>
            </a:r>
            <a:r>
              <a:rPr sz="1800" b="0">
                <a:solidFill>
                  <a:srgbClr val="000000"/>
                </a:solidFill>
                <a:latin typeface="Arial"/>
              </a:rPr>
              <a:t>extends and connects it with integration, APIs, data and AI services.</a:t>
            </a:r>
          </a:p>
          <a:p>
            <a:pPr marL="274320" indent="-274320" algn="l">
              <a:lnSpc>
                <a:spcPct val="110000"/>
              </a:lnSpc>
              <a:spcAft>
                <a:spcPts val="900"/>
              </a:spcAft>
              <a:buFont typeface="Arial"/>
              <a:buChar char="•"/>
            </a:pPr>
            <a:r>
              <a:rPr sz="1800" b="1">
                <a:solidFill>
                  <a:srgbClr val="000000"/>
                </a:solidFill>
                <a:latin typeface="Arial"/>
              </a:rPr>
              <a:t>Generative AI hub </a:t>
            </a:r>
            <a:r>
              <a:rPr sz="1800" b="0">
                <a:solidFill>
                  <a:srgbClr val="000000"/>
                </a:solidFill>
                <a:latin typeface="Arial"/>
              </a:rPr>
              <a:t>(SAP AI Core on BTP) gives governed access to LLMs.</a:t>
            </a:r>
          </a:p>
        </p:txBody>
      </p:sp>
      <p:sp>
        <p:nvSpPr>
          <p:cNvPr id="42" name="TextBox 42"/>
          <p:cNvSpPr txBox="1"/>
          <p:nvPr/>
        </p:nvSpPr>
        <p:spPr>
          <a:xfrm>
            <a:off x="6894576" y="5623560"/>
            <a:ext cx="4526280" cy="2971800"/>
          </a:xfrm>
          <a:prstGeom prst="rect">
            <a:avLst/>
          </a:prstGeom>
        </p:spPr>
        <p:txBody>
          <a:bodyPr wrap="square" lIns="0" tIns="0" rIns="0" bIns="0" rtlCol="0" anchor="t"/>
          <a:lstStyle/>
          <a:p>
            <a:pPr marL="274320" lvl="1" indent="-274320" algn="l">
              <a:lnSpc>
                <a:spcPct val="110000"/>
              </a:lnSpc>
              <a:spcAft>
                <a:spcPts val="900"/>
              </a:spcAft>
              <a:buFont typeface="Arial"/>
              <a:buChar char="•"/>
            </a:pPr>
            <a:r>
              <a:rPr sz="1800" b="1">
                <a:solidFill>
                  <a:srgbClr val="000000"/>
                </a:solidFill>
                <a:latin typeface="Arial"/>
              </a:rPr>
              <a:t>Joule </a:t>
            </a:r>
            <a:r>
              <a:rPr sz="1800" b="0">
                <a:solidFill>
                  <a:srgbClr val="000000"/>
                </a:solidFill>
                <a:latin typeface="Arial"/>
              </a:rPr>
              <a:t>is SAP's AI copilot inside SAP apps.</a:t>
            </a:r>
          </a:p>
          <a:p>
            <a:pPr marL="274320" indent="-274320" algn="l">
              <a:lnSpc>
                <a:spcPct val="110000"/>
              </a:lnSpc>
              <a:spcAft>
                <a:spcPts val="900"/>
              </a:spcAft>
              <a:buFont typeface="Arial"/>
              <a:buChar char="•"/>
            </a:pPr>
            <a:r>
              <a:rPr sz="1800" b="1">
                <a:solidFill>
                  <a:srgbClr val="000000"/>
                </a:solidFill>
                <a:latin typeface="Arial"/>
              </a:rPr>
              <a:t>Joule Agents </a:t>
            </a:r>
            <a:r>
              <a:rPr sz="1800" b="0">
                <a:solidFill>
                  <a:srgbClr val="000000"/>
                </a:solidFill>
                <a:latin typeface="Arial"/>
              </a:rPr>
              <a:t>handle multi-step work across processes.</a:t>
            </a:r>
          </a:p>
          <a:p>
            <a:pPr marL="274320" indent="-274320" algn="l">
              <a:lnSpc>
                <a:spcPct val="110000"/>
              </a:lnSpc>
              <a:spcAft>
                <a:spcPts val="900"/>
              </a:spcAft>
              <a:buFont typeface="Arial"/>
              <a:buChar char="•"/>
            </a:pPr>
            <a:r>
              <a:rPr sz="1800" b="1">
                <a:solidFill>
                  <a:srgbClr val="000000"/>
                </a:solidFill>
                <a:latin typeface="Arial"/>
              </a:rPr>
              <a:t>Joule Studio </a:t>
            </a:r>
            <a:r>
              <a:rPr sz="1800" b="0">
                <a:solidFill>
                  <a:srgbClr val="000000"/>
                </a:solidFill>
                <a:latin typeface="Arial"/>
              </a:rPr>
              <a:t>(SAP Build) is where custom agents are built, with a human in the loop.</a:t>
            </a:r>
          </a:p>
        </p:txBody>
      </p:sp>
      <p:sp>
        <p:nvSpPr>
          <p:cNvPr id="45" name="TextBox 45"/>
          <p:cNvSpPr txBox="1"/>
          <p:nvPr/>
        </p:nvSpPr>
        <p:spPr>
          <a:xfrm>
            <a:off x="1417320" y="5029200"/>
            <a:ext cx="4480560" cy="457200"/>
          </a:xfrm>
          <a:prstGeom prst="rect">
            <a:avLst/>
          </a:prstGeom>
        </p:spPr>
        <p:txBody>
          <a:bodyPr wrap="square" lIns="0" tIns="0" rIns="0" bIns="0" rtlCol="0" anchor="t"/>
          <a:lstStyle/>
          <a:p>
            <a:pPr algn="l">
              <a:lnSpc>
                <a:spcPct val="110000"/>
              </a:lnSpc>
            </a:pPr>
            <a:r>
              <a:rPr sz="2600" b="1">
                <a:solidFill>
                  <a:srgbClr val="000000"/>
                </a:solidFill>
                <a:latin typeface="Arial"/>
              </a:rPr>
              <a:t>SAP &amp; SAP BTP</a:t>
            </a:r>
          </a:p>
        </p:txBody>
      </p:sp>
      <p:sp>
        <p:nvSpPr>
          <p:cNvPr id="46" name="TextBox 46"/>
          <p:cNvSpPr txBox="1"/>
          <p:nvPr/>
        </p:nvSpPr>
        <p:spPr>
          <a:xfrm>
            <a:off x="6894576" y="5029200"/>
            <a:ext cx="4480560" cy="457200"/>
          </a:xfrm>
          <a:prstGeom prst="rect">
            <a:avLst/>
          </a:prstGeom>
        </p:spPr>
        <p:txBody>
          <a:bodyPr wrap="square" lIns="0" tIns="0" rIns="0" bIns="0" rtlCol="0" anchor="t"/>
          <a:lstStyle/>
          <a:p>
            <a:pPr algn="l">
              <a:lnSpc>
                <a:spcPct val="110000"/>
              </a:lnSpc>
            </a:pPr>
            <a:r>
              <a:rPr sz="2600" b="1">
                <a:solidFill>
                  <a:srgbClr val="000000"/>
                </a:solidFill>
                <a:latin typeface="Arial"/>
              </a:rPr>
              <a:t>Joule &amp; AI agents</a:t>
            </a:r>
          </a:p>
        </p:txBody>
      </p:sp>
      <p:sp>
        <p:nvSpPr>
          <p:cNvPr id="49" name="TextBox 49"/>
          <p:cNvSpPr txBox="1"/>
          <p:nvPr/>
        </p:nvSpPr>
        <p:spPr>
          <a:xfrm>
            <a:off x="12380976" y="5623560"/>
            <a:ext cx="4526280" cy="2971800"/>
          </a:xfrm>
          <a:prstGeom prst="rect">
            <a:avLst/>
          </a:prstGeom>
        </p:spPr>
        <p:txBody>
          <a:bodyPr wrap="square" lIns="0" tIns="0" rIns="0" bIns="0" rtlCol="0" anchor="t"/>
          <a:lstStyle/>
          <a:p>
            <a:pPr marL="274320" lvl="1" indent="-274320" algn="l">
              <a:lnSpc>
                <a:spcPct val="110000"/>
              </a:lnSpc>
              <a:spcAft>
                <a:spcPts val="900"/>
              </a:spcAft>
              <a:buFont typeface="Arial"/>
              <a:buChar char="•"/>
            </a:pPr>
            <a:r>
              <a:rPr sz="1800" b="1">
                <a:solidFill>
                  <a:srgbClr val="000000"/>
                </a:solidFill>
                <a:latin typeface="Arial"/>
              </a:rPr>
              <a:t>Data and actions: </a:t>
            </a:r>
            <a:r>
              <a:rPr sz="1800" b="0">
                <a:solidFill>
                  <a:srgbClr val="000000"/>
                </a:solidFill>
                <a:latin typeface="Arial"/>
              </a:rPr>
              <a:t>S/4HANA APIs, for example Purchase Order (OData V4).</a:t>
            </a:r>
          </a:p>
          <a:p>
            <a:pPr marL="274320" indent="-274320" algn="l">
              <a:lnSpc>
                <a:spcPct val="110000"/>
              </a:lnSpc>
              <a:spcAft>
                <a:spcPts val="900"/>
              </a:spcAft>
              <a:buFont typeface="Arial"/>
              <a:buChar char="•"/>
            </a:pPr>
            <a:r>
              <a:rPr sz="1800" b="1">
                <a:solidFill>
                  <a:srgbClr val="000000"/>
                </a:solidFill>
                <a:latin typeface="Arial"/>
              </a:rPr>
              <a:t>Connectivity: </a:t>
            </a:r>
            <a:r>
              <a:rPr sz="1800" b="0">
                <a:solidFill>
                  <a:srgbClr val="000000"/>
                </a:solidFill>
                <a:latin typeface="Arial"/>
              </a:rPr>
              <a:t>BTP destinations and the Cloud Connector.</a:t>
            </a:r>
          </a:p>
          <a:p>
            <a:pPr marL="274320" indent="-274320" algn="l">
              <a:lnSpc>
                <a:spcPct val="110000"/>
              </a:lnSpc>
              <a:spcAft>
                <a:spcPts val="900"/>
              </a:spcAft>
              <a:buFont typeface="Arial"/>
              <a:buChar char="•"/>
            </a:pPr>
            <a:r>
              <a:rPr sz="1800" b="1">
                <a:solidFill>
                  <a:srgbClr val="000000"/>
                </a:solidFill>
                <a:latin typeface="Arial"/>
              </a:rPr>
              <a:t>Process: </a:t>
            </a:r>
            <a:r>
              <a:rPr sz="1800" b="0">
                <a:solidFill>
                  <a:srgbClr val="000000"/>
                </a:solidFill>
                <a:latin typeface="Arial"/>
              </a:rPr>
              <a:t>each API becomes a tool, and approvals and logs stay in the flow.</a:t>
            </a:r>
          </a:p>
        </p:txBody>
      </p:sp>
      <p:sp>
        <p:nvSpPr>
          <p:cNvPr id="51" name="TextBox 51"/>
          <p:cNvSpPr txBox="1"/>
          <p:nvPr/>
        </p:nvSpPr>
        <p:spPr>
          <a:xfrm>
            <a:off x="12380976" y="5029200"/>
            <a:ext cx="4480560" cy="457200"/>
          </a:xfrm>
          <a:prstGeom prst="rect">
            <a:avLst/>
          </a:prstGeom>
        </p:spPr>
        <p:txBody>
          <a:bodyPr wrap="square" lIns="0" tIns="0" rIns="0" bIns="0" rtlCol="0" anchor="t"/>
          <a:lstStyle/>
          <a:p>
            <a:pPr algn="l">
              <a:lnSpc>
                <a:spcPct val="110000"/>
              </a:lnSpc>
            </a:pPr>
            <a:r>
              <a:rPr sz="2600" b="1">
                <a:solidFill>
                  <a:srgbClr val="000000"/>
                </a:solidFill>
                <a:latin typeface="Arial"/>
              </a:rPr>
              <a:t>How agents reach SAP</a:t>
            </a:r>
          </a:p>
        </p:txBody>
      </p:sp>
      <p:grpSp>
        <p:nvGrpSpPr>
          <p:cNvPr id="50" name="Group 27">
            <a:extLst>
              <a:ext uri="{FF2B5EF4-FFF2-40B4-BE49-F238E27FC236}">
                <a16:creationId xmlns:a16="http://schemas.microsoft.com/office/drawing/2014/main" id="{CCC39B9B-DD4C-DE56-F0E0-B69CAFFD59F3}"/>
              </a:ext>
            </a:extLst>
          </p:cNvPr>
          <p:cNvGrpSpPr/>
          <p:nvPr/>
        </p:nvGrpSpPr>
        <p:grpSpPr>
          <a:xfrm>
            <a:off x="8342387" y="-687485"/>
            <a:ext cx="7472095" cy="4664298"/>
            <a:chOff x="-517189" y="-47625"/>
            <a:chExt cx="2155738" cy="1345674"/>
          </a:xfrm>
        </p:grpSpPr>
        <p:sp>
          <p:nvSpPr>
            <p:cNvPr id="52" name="Freeform 28">
              <a:extLst>
                <a:ext uri="{FF2B5EF4-FFF2-40B4-BE49-F238E27FC236}">
                  <a16:creationId xmlns:a16="http://schemas.microsoft.com/office/drawing/2014/main" id="{D2C30D44-A77C-56E4-E3DA-CAAE8371E59F}"/>
                </a:ext>
              </a:extLst>
            </p:cNvPr>
            <p:cNvSpPr/>
            <p:nvPr/>
          </p:nvSpPr>
          <p:spPr>
            <a:xfrm>
              <a:off x="-517189" y="456870"/>
              <a:ext cx="2155738" cy="841179"/>
            </a:xfrm>
            <a:custGeom>
              <a:avLst/>
              <a:gdLst/>
              <a:ahLst/>
              <a:cxnLst/>
              <a:rect l="l" t="t" r="r" b="b"/>
              <a:pathLst>
                <a:path w="1426712" h="1117005">
                  <a:moveTo>
                    <a:pt x="0" y="0"/>
                  </a:moveTo>
                  <a:lnTo>
                    <a:pt x="1426712" y="0"/>
                  </a:lnTo>
                  <a:lnTo>
                    <a:pt x="1426712" y="1117005"/>
                  </a:lnTo>
                  <a:lnTo>
                    <a:pt x="0" y="1117005"/>
                  </a:lnTo>
                  <a:close/>
                </a:path>
              </a:pathLst>
            </a:custGeom>
            <a:solidFill>
              <a:srgbClr val="E0D8C7"/>
            </a:solidFill>
          </p:spPr>
          <p:txBody>
            <a:bodyPr/>
            <a:lstStyle/>
            <a:p>
              <a:endParaRPr dirty="0"/>
            </a:p>
          </p:txBody>
        </p:sp>
        <p:sp>
          <p:nvSpPr>
            <p:cNvPr id="53" name="TextBox 29">
              <a:extLst>
                <a:ext uri="{FF2B5EF4-FFF2-40B4-BE49-F238E27FC236}">
                  <a16:creationId xmlns:a16="http://schemas.microsoft.com/office/drawing/2014/main" id="{A18DD01B-88A8-F41A-525D-E73DACF141EB}"/>
                </a:ext>
              </a:extLst>
            </p:cNvPr>
            <p:cNvSpPr txBox="1"/>
            <p:nvPr/>
          </p:nvSpPr>
          <p:spPr>
            <a:xfrm>
              <a:off x="0" y="-47625"/>
              <a:ext cx="1426712" cy="1164630"/>
            </a:xfrm>
            <a:prstGeom prst="rect">
              <a:avLst/>
            </a:prstGeom>
          </p:spPr>
          <p:txBody>
            <a:bodyPr lIns="50800" tIns="50800" rIns="50800" bIns="50800" rtlCol="0" anchor="ctr"/>
            <a:lstStyle/>
            <a:p>
              <a:pPr algn="ctr">
                <a:lnSpc>
                  <a:spcPts val="3359"/>
                </a:lnSpc>
              </a:pPr>
              <a:endParaRPr/>
            </a:p>
          </p:txBody>
        </p:sp>
      </p:grpSp>
      <p:sp>
        <p:nvSpPr>
          <p:cNvPr id="55" name="ZoneTexte 54">
            <a:extLst>
              <a:ext uri="{FF2B5EF4-FFF2-40B4-BE49-F238E27FC236}">
                <a16:creationId xmlns:a16="http://schemas.microsoft.com/office/drawing/2014/main" id="{E7A465EB-8418-0268-A03B-0F978E06997B}"/>
              </a:ext>
            </a:extLst>
          </p:cNvPr>
          <p:cNvSpPr txBox="1"/>
          <p:nvPr/>
        </p:nvSpPr>
        <p:spPr>
          <a:xfrm>
            <a:off x="8511330" y="1279291"/>
            <a:ext cx="6762174" cy="2183611"/>
          </a:xfrm>
          <a:prstGeom prst="rect">
            <a:avLst/>
          </a:prstGeom>
          <a:noFill/>
        </p:spPr>
        <p:txBody>
          <a:bodyPr wrap="square">
            <a:spAutoFit/>
          </a:bodyPr>
          <a:lstStyle/>
          <a:p>
            <a:pPr marL="342900" indent="-342900" algn="l">
              <a:lnSpc>
                <a:spcPct val="110000"/>
              </a:lnSpc>
              <a:spcAft>
                <a:spcPts val="400"/>
              </a:spcAft>
              <a:buFont typeface="Arial" panose="020B0604020202020204" pitchFamily="34" charset="0"/>
              <a:buChar char="•"/>
            </a:pPr>
            <a:r>
              <a:rPr lang="en-US" sz="2000" b="1" dirty="0">
                <a:solidFill>
                  <a:schemeClr val="accent6">
                    <a:lumMod val="75000"/>
                  </a:schemeClr>
                </a:solidFill>
                <a:latin typeface="Arial"/>
              </a:rPr>
              <a:t>Agentic AI </a:t>
            </a:r>
            <a:r>
              <a:rPr lang="en-US" sz="1800" b="0" dirty="0">
                <a:solidFill>
                  <a:srgbClr val="000000"/>
                </a:solidFill>
                <a:latin typeface="Arial"/>
              </a:rPr>
              <a:t>works toward a goal: it plans the steps, calls tools, looks at the results and acts, within limits set by people.</a:t>
            </a:r>
          </a:p>
          <a:p>
            <a:pPr marL="342900" indent="-342900" algn="l">
              <a:lnSpc>
                <a:spcPct val="110000"/>
              </a:lnSpc>
              <a:spcAft>
                <a:spcPts val="400"/>
              </a:spcAft>
              <a:buFont typeface="Arial" panose="020B0604020202020204" pitchFamily="34" charset="0"/>
              <a:buChar char="•"/>
            </a:pPr>
            <a:r>
              <a:rPr lang="en-US" sz="2000" b="1" dirty="0">
                <a:solidFill>
                  <a:schemeClr val="accent6">
                    <a:lumMod val="50000"/>
                  </a:schemeClr>
                </a:solidFill>
                <a:latin typeface="Arial"/>
              </a:rPr>
              <a:t>Rule-based automation</a:t>
            </a:r>
            <a:r>
              <a:rPr lang="en-US" sz="1800" b="1" dirty="0">
                <a:solidFill>
                  <a:schemeClr val="accent6">
                    <a:lumMod val="50000"/>
                  </a:schemeClr>
                </a:solidFill>
                <a:latin typeface="Arial"/>
              </a:rPr>
              <a:t>: </a:t>
            </a:r>
            <a:r>
              <a:rPr lang="en-US" sz="1800" b="0" dirty="0">
                <a:solidFill>
                  <a:srgbClr val="000000"/>
                </a:solidFill>
                <a:latin typeface="Arial"/>
              </a:rPr>
              <a:t>fixed if-then rules. Predictable, but rigid.</a:t>
            </a:r>
          </a:p>
          <a:p>
            <a:pPr marL="342900" indent="-342900" algn="l">
              <a:lnSpc>
                <a:spcPct val="110000"/>
              </a:lnSpc>
              <a:spcAft>
                <a:spcPts val="400"/>
              </a:spcAft>
              <a:buFont typeface="Arial" panose="020B0604020202020204" pitchFamily="34" charset="0"/>
              <a:buChar char="•"/>
            </a:pPr>
            <a:r>
              <a:rPr lang="en-US" sz="2000" b="1" dirty="0">
                <a:solidFill>
                  <a:schemeClr val="accent6">
                    <a:lumMod val="75000"/>
                  </a:schemeClr>
                </a:solidFill>
                <a:latin typeface="Arial"/>
              </a:rPr>
              <a:t>Traditional ML</a:t>
            </a:r>
            <a:r>
              <a:rPr lang="en-US" sz="1800" b="1" dirty="0">
                <a:solidFill>
                  <a:srgbClr val="000000"/>
                </a:solidFill>
                <a:latin typeface="Arial"/>
              </a:rPr>
              <a:t>: </a:t>
            </a:r>
            <a:r>
              <a:rPr lang="en-US" sz="1800" b="0" dirty="0">
                <a:solidFill>
                  <a:srgbClr val="000000"/>
                </a:solidFill>
                <a:latin typeface="Arial"/>
              </a:rPr>
              <a:t>predicts a score, but takes no action.</a:t>
            </a:r>
          </a:p>
          <a:p>
            <a:pPr marL="342900" indent="-342900" algn="l">
              <a:lnSpc>
                <a:spcPct val="110000"/>
              </a:lnSpc>
              <a:spcAft>
                <a:spcPts val="400"/>
              </a:spcAft>
              <a:buFont typeface="Arial" panose="020B0604020202020204" pitchFamily="34" charset="0"/>
              <a:buChar char="•"/>
            </a:pPr>
            <a:r>
              <a:rPr lang="en-US" sz="2000" b="1" dirty="0">
                <a:solidFill>
                  <a:srgbClr val="000000"/>
                </a:solidFill>
                <a:latin typeface="Arial"/>
              </a:rPr>
              <a:t>Chatbot: </a:t>
            </a:r>
            <a:r>
              <a:rPr lang="en-US" sz="1800" b="0" dirty="0">
                <a:solidFill>
                  <a:srgbClr val="000000"/>
                </a:solidFill>
                <a:latin typeface="Arial"/>
              </a:rPr>
              <a:t>answers questions, then waits for the next one.</a:t>
            </a:r>
          </a:p>
        </p:txBody>
      </p:sp>
      <p:grpSp>
        <p:nvGrpSpPr>
          <p:cNvPr id="56" name="Group 14">
            <a:extLst>
              <a:ext uri="{FF2B5EF4-FFF2-40B4-BE49-F238E27FC236}">
                <a16:creationId xmlns:a16="http://schemas.microsoft.com/office/drawing/2014/main" id="{C8F88FC8-B302-386F-DD25-6BCF9B103D73}"/>
              </a:ext>
            </a:extLst>
          </p:cNvPr>
          <p:cNvGrpSpPr/>
          <p:nvPr/>
        </p:nvGrpSpPr>
        <p:grpSpPr>
          <a:xfrm>
            <a:off x="8342387" y="845516"/>
            <a:ext cx="7472095" cy="278434"/>
            <a:chOff x="0" y="0"/>
            <a:chExt cx="1426712" cy="227529"/>
          </a:xfrm>
        </p:grpSpPr>
        <p:sp>
          <p:nvSpPr>
            <p:cNvPr id="57" name="Freeform 15">
              <a:extLst>
                <a:ext uri="{FF2B5EF4-FFF2-40B4-BE49-F238E27FC236}">
                  <a16:creationId xmlns:a16="http://schemas.microsoft.com/office/drawing/2014/main" id="{AC1F006D-3434-3CE1-E76B-C76337C8266D}"/>
                </a:ext>
              </a:extLst>
            </p:cNvPr>
            <p:cNvSpPr/>
            <p:nvPr/>
          </p:nvSpPr>
          <p:spPr>
            <a:xfrm>
              <a:off x="0" y="0"/>
              <a:ext cx="1426712" cy="227529"/>
            </a:xfrm>
            <a:custGeom>
              <a:avLst/>
              <a:gdLst/>
              <a:ahLst/>
              <a:cxnLst/>
              <a:rect l="l" t="t" r="r" b="b"/>
              <a:pathLst>
                <a:path w="1426712" h="227529">
                  <a:moveTo>
                    <a:pt x="0" y="0"/>
                  </a:moveTo>
                  <a:lnTo>
                    <a:pt x="1426712" y="0"/>
                  </a:lnTo>
                  <a:lnTo>
                    <a:pt x="1426712" y="227529"/>
                  </a:lnTo>
                  <a:lnTo>
                    <a:pt x="0" y="227529"/>
                  </a:lnTo>
                  <a:close/>
                </a:path>
              </a:pathLst>
            </a:custGeom>
            <a:solidFill>
              <a:srgbClr val="632103"/>
            </a:solidFill>
          </p:spPr>
          <p:txBody>
            <a:bodyPr/>
            <a:lstStyle/>
            <a:p>
              <a:endParaRPr/>
            </a:p>
          </p:txBody>
        </p:sp>
        <p:sp>
          <p:nvSpPr>
            <p:cNvPr id="58" name="TextBox 16">
              <a:extLst>
                <a:ext uri="{FF2B5EF4-FFF2-40B4-BE49-F238E27FC236}">
                  <a16:creationId xmlns:a16="http://schemas.microsoft.com/office/drawing/2014/main" id="{7CC9DA87-775D-0F4C-4037-C8E8CD1A1B92}"/>
                </a:ext>
              </a:extLst>
            </p:cNvPr>
            <p:cNvSpPr txBox="1"/>
            <p:nvPr/>
          </p:nvSpPr>
          <p:spPr>
            <a:xfrm>
              <a:off x="0" y="-47625"/>
              <a:ext cx="1426712" cy="275154"/>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grpSp>
        <p:nvGrpSpPr>
          <p:cNvPr id="3" name="Group 3"/>
          <p:cNvGrpSpPr/>
          <p:nvPr/>
        </p:nvGrpSpPr>
        <p:grpSpPr>
          <a:xfrm>
            <a:off x="1028700" y="5870321"/>
            <a:ext cx="6787053" cy="1448677"/>
            <a:chOff x="0" y="0"/>
            <a:chExt cx="1787537" cy="381545"/>
          </a:xfrm>
        </p:grpSpPr>
        <p:sp>
          <p:nvSpPr>
            <p:cNvPr id="4" name="Freeform 4"/>
            <p:cNvSpPr/>
            <p:nvPr/>
          </p:nvSpPr>
          <p:spPr>
            <a:xfrm>
              <a:off x="0" y="0"/>
              <a:ext cx="1787536" cy="381545"/>
            </a:xfrm>
            <a:custGeom>
              <a:avLst/>
              <a:gdLst/>
              <a:ahLst/>
              <a:cxnLst/>
              <a:rect l="l" t="t" r="r" b="b"/>
              <a:pathLst>
                <a:path w="1787536" h="381545">
                  <a:moveTo>
                    <a:pt x="0" y="0"/>
                  </a:moveTo>
                  <a:lnTo>
                    <a:pt x="1787536" y="0"/>
                  </a:lnTo>
                  <a:lnTo>
                    <a:pt x="1787536" y="381545"/>
                  </a:lnTo>
                  <a:lnTo>
                    <a:pt x="0" y="381545"/>
                  </a:lnTo>
                  <a:close/>
                </a:path>
              </a:pathLst>
            </a:custGeom>
            <a:solidFill>
              <a:srgbClr val="E0D8C7"/>
            </a:solidFill>
          </p:spPr>
          <p:txBody>
            <a:bodyPr/>
            <a:lstStyle/>
            <a:p>
              <a:endParaRPr/>
            </a:p>
          </p:txBody>
        </p:sp>
        <p:sp>
          <p:nvSpPr>
            <p:cNvPr id="5" name="TextBox 5"/>
            <p:cNvSpPr txBox="1"/>
            <p:nvPr/>
          </p:nvSpPr>
          <p:spPr>
            <a:xfrm>
              <a:off x="0" y="-47625"/>
              <a:ext cx="1787537" cy="429170"/>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028700" y="7523873"/>
            <a:ext cx="6787053" cy="1448677"/>
            <a:chOff x="0" y="0"/>
            <a:chExt cx="1787537" cy="381545"/>
          </a:xfrm>
        </p:grpSpPr>
        <p:sp>
          <p:nvSpPr>
            <p:cNvPr id="8" name="Freeform 8"/>
            <p:cNvSpPr/>
            <p:nvPr/>
          </p:nvSpPr>
          <p:spPr>
            <a:xfrm>
              <a:off x="0" y="0"/>
              <a:ext cx="1787536" cy="381545"/>
            </a:xfrm>
            <a:custGeom>
              <a:avLst/>
              <a:gdLst/>
              <a:ahLst/>
              <a:cxnLst/>
              <a:rect l="l" t="t" r="r" b="b"/>
              <a:pathLst>
                <a:path w="1787536" h="381545">
                  <a:moveTo>
                    <a:pt x="0" y="0"/>
                  </a:moveTo>
                  <a:lnTo>
                    <a:pt x="1787536" y="0"/>
                  </a:lnTo>
                  <a:lnTo>
                    <a:pt x="1787536" y="381545"/>
                  </a:lnTo>
                  <a:lnTo>
                    <a:pt x="0" y="381545"/>
                  </a:lnTo>
                  <a:close/>
                </a:path>
              </a:pathLst>
            </a:custGeom>
            <a:solidFill>
              <a:srgbClr val="E0D8C7"/>
            </a:solidFill>
          </p:spPr>
          <p:txBody>
            <a:bodyPr/>
            <a:lstStyle/>
            <a:p>
              <a:endParaRPr/>
            </a:p>
          </p:txBody>
        </p:sp>
        <p:sp>
          <p:nvSpPr>
            <p:cNvPr id="9" name="TextBox 9"/>
            <p:cNvSpPr txBox="1"/>
            <p:nvPr/>
          </p:nvSpPr>
          <p:spPr>
            <a:xfrm>
              <a:off x="0" y="-47625"/>
              <a:ext cx="1787537" cy="429170"/>
            </a:xfrm>
            <a:prstGeom prst="rect">
              <a:avLst/>
            </a:prstGeom>
          </p:spPr>
          <p:txBody>
            <a:bodyPr lIns="50800" tIns="50800" rIns="50800" bIns="50800" rtlCol="0" anchor="ctr"/>
            <a:lstStyle/>
            <a:p>
              <a:pPr algn="ctr">
                <a:lnSpc>
                  <a:spcPts val="3359"/>
                </a:lnSpc>
              </a:pPr>
              <a:endParaRPr/>
            </a:p>
          </p:txBody>
        </p:sp>
      </p:grpSp>
      <p:sp>
        <p:nvSpPr>
          <p:cNvPr id="11" name="Freeform 11"/>
          <p:cNvSpPr/>
          <p:nvPr/>
        </p:nvSpPr>
        <p:spPr>
          <a:xfrm>
            <a:off x="1399899" y="6384823"/>
            <a:ext cx="267197" cy="424965"/>
          </a:xfrm>
          <a:custGeom>
            <a:avLst/>
            <a:gdLst/>
            <a:ahLst/>
            <a:cxnLst/>
            <a:rect l="l" t="t" r="r" b="b"/>
            <a:pathLst>
              <a:path w="267197" h="424965">
                <a:moveTo>
                  <a:pt x="0" y="0"/>
                </a:moveTo>
                <a:lnTo>
                  <a:pt x="267197" y="0"/>
                </a:lnTo>
                <a:lnTo>
                  <a:pt x="267197" y="424965"/>
                </a:lnTo>
                <a:lnTo>
                  <a:pt x="0" y="4249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2" name="Freeform 12"/>
          <p:cNvSpPr/>
          <p:nvPr/>
        </p:nvSpPr>
        <p:spPr>
          <a:xfrm>
            <a:off x="1399899" y="8041020"/>
            <a:ext cx="267197" cy="424965"/>
          </a:xfrm>
          <a:custGeom>
            <a:avLst/>
            <a:gdLst/>
            <a:ahLst/>
            <a:cxnLst/>
            <a:rect l="l" t="t" r="r" b="b"/>
            <a:pathLst>
              <a:path w="267197" h="424965">
                <a:moveTo>
                  <a:pt x="0" y="0"/>
                </a:moveTo>
                <a:lnTo>
                  <a:pt x="267197" y="0"/>
                </a:lnTo>
                <a:lnTo>
                  <a:pt x="267197" y="424966"/>
                </a:lnTo>
                <a:lnTo>
                  <a:pt x="0" y="4249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3" name="AutoShape 13"/>
          <p:cNvSpPr/>
          <p:nvPr/>
        </p:nvSpPr>
        <p:spPr>
          <a:xfrm flipV="1">
            <a:off x="-886882" y="-47158"/>
            <a:ext cx="2184588" cy="3306278"/>
          </a:xfrm>
          <a:prstGeom prst="line">
            <a:avLst/>
          </a:prstGeom>
          <a:ln w="38100" cap="flat">
            <a:solidFill>
              <a:srgbClr val="FFFFFF"/>
            </a:solidFill>
            <a:prstDash val="solid"/>
            <a:headEnd type="none" w="sm" len="sm"/>
            <a:tailEnd type="none" w="sm" len="sm"/>
          </a:ln>
        </p:spPr>
        <p:txBody>
          <a:bodyPr/>
          <a:lstStyle/>
          <a:p>
            <a:endParaRPr/>
          </a:p>
        </p:txBody>
      </p:sp>
      <p:sp>
        <p:nvSpPr>
          <p:cNvPr id="14" name="Freeform 14"/>
          <p:cNvSpPr/>
          <p:nvPr/>
        </p:nvSpPr>
        <p:spPr>
          <a:xfrm>
            <a:off x="-1907177" y="-1127424"/>
            <a:ext cx="3940885" cy="3201969"/>
          </a:xfrm>
          <a:custGeom>
            <a:avLst/>
            <a:gdLst/>
            <a:ahLst/>
            <a:cxnLst/>
            <a:rect l="l" t="t" r="r" b="b"/>
            <a:pathLst>
              <a:path w="3940885" h="3201969">
                <a:moveTo>
                  <a:pt x="0" y="0"/>
                </a:moveTo>
                <a:lnTo>
                  <a:pt x="3940884" y="0"/>
                </a:lnTo>
                <a:lnTo>
                  <a:pt x="3940884" y="3201969"/>
                </a:lnTo>
                <a:lnTo>
                  <a:pt x="0" y="320196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5" name="Freeform 15"/>
          <p:cNvSpPr/>
          <p:nvPr/>
        </p:nvSpPr>
        <p:spPr>
          <a:xfrm>
            <a:off x="16618577" y="9258300"/>
            <a:ext cx="3940885" cy="3201969"/>
          </a:xfrm>
          <a:custGeom>
            <a:avLst/>
            <a:gdLst/>
            <a:ahLst/>
            <a:cxnLst/>
            <a:rect l="l" t="t" r="r" b="b"/>
            <a:pathLst>
              <a:path w="3940885" h="3201969">
                <a:moveTo>
                  <a:pt x="0" y="0"/>
                </a:moveTo>
                <a:lnTo>
                  <a:pt x="3940885" y="0"/>
                </a:lnTo>
                <a:lnTo>
                  <a:pt x="3940885" y="3201969"/>
                </a:lnTo>
                <a:lnTo>
                  <a:pt x="0" y="320196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24" name="TextBox 24"/>
          <p:cNvSpPr txBox="1"/>
          <p:nvPr/>
        </p:nvSpPr>
        <p:spPr>
          <a:xfrm>
            <a:off x="2033707" y="6406685"/>
            <a:ext cx="5577840" cy="390765"/>
          </a:xfrm>
          <a:prstGeom prst="rect">
            <a:avLst/>
          </a:prstGeom>
        </p:spPr>
        <p:txBody>
          <a:bodyPr wrap="square" lIns="0" tIns="0" rIns="0" bIns="0" rtlCol="0" anchor="t"/>
          <a:lstStyle/>
          <a:p>
            <a:pPr algn="l">
              <a:lnSpc>
                <a:spcPct val="110000"/>
              </a:lnSpc>
            </a:pPr>
            <a:r>
              <a:rPr sz="2200" b="1">
                <a:solidFill>
                  <a:srgbClr val="000000"/>
                </a:solidFill>
                <a:latin typeface="Arial"/>
              </a:rPr>
              <a:t>9 of 25</a:t>
            </a:r>
            <a:r>
              <a:rPr sz="2200" b="0">
                <a:solidFill>
                  <a:srgbClr val="000000"/>
                </a:solidFill>
                <a:latin typeface="Arial"/>
              </a:rPr>
              <a:t> suppliers are on time less than 70% of the time</a:t>
            </a:r>
          </a:p>
        </p:txBody>
      </p:sp>
      <p:grpSp>
        <p:nvGrpSpPr>
          <p:cNvPr id="26" name="Group 26"/>
          <p:cNvGrpSpPr/>
          <p:nvPr/>
        </p:nvGrpSpPr>
        <p:grpSpPr>
          <a:xfrm>
            <a:off x="1028700" y="4216769"/>
            <a:ext cx="6787053" cy="1448677"/>
            <a:chOff x="0" y="0"/>
            <a:chExt cx="1787537" cy="381545"/>
          </a:xfrm>
        </p:grpSpPr>
        <p:sp>
          <p:nvSpPr>
            <p:cNvPr id="27" name="Freeform 27"/>
            <p:cNvSpPr/>
            <p:nvPr/>
          </p:nvSpPr>
          <p:spPr>
            <a:xfrm>
              <a:off x="0" y="0"/>
              <a:ext cx="1787536" cy="381545"/>
            </a:xfrm>
            <a:custGeom>
              <a:avLst/>
              <a:gdLst/>
              <a:ahLst/>
              <a:cxnLst/>
              <a:rect l="l" t="t" r="r" b="b"/>
              <a:pathLst>
                <a:path w="1787536" h="381545">
                  <a:moveTo>
                    <a:pt x="0" y="0"/>
                  </a:moveTo>
                  <a:lnTo>
                    <a:pt x="1787536" y="0"/>
                  </a:lnTo>
                  <a:lnTo>
                    <a:pt x="1787536" y="381545"/>
                  </a:lnTo>
                  <a:lnTo>
                    <a:pt x="0" y="381545"/>
                  </a:lnTo>
                  <a:close/>
                </a:path>
              </a:pathLst>
            </a:custGeom>
            <a:solidFill>
              <a:srgbClr val="E0D8C7"/>
            </a:solidFill>
          </p:spPr>
          <p:txBody>
            <a:bodyPr/>
            <a:lstStyle/>
            <a:p>
              <a:endParaRPr/>
            </a:p>
          </p:txBody>
        </p:sp>
        <p:sp>
          <p:nvSpPr>
            <p:cNvPr id="28" name="TextBox 28"/>
            <p:cNvSpPr txBox="1"/>
            <p:nvPr/>
          </p:nvSpPr>
          <p:spPr>
            <a:xfrm>
              <a:off x="0" y="-47625"/>
              <a:ext cx="1787537" cy="429170"/>
            </a:xfrm>
            <a:prstGeom prst="rect">
              <a:avLst/>
            </a:prstGeom>
          </p:spPr>
          <p:txBody>
            <a:bodyPr lIns="50800" tIns="50800" rIns="50800" bIns="50800" rtlCol="0" anchor="ctr"/>
            <a:lstStyle/>
            <a:p>
              <a:pPr algn="ctr">
                <a:lnSpc>
                  <a:spcPts val="3359"/>
                </a:lnSpc>
              </a:pPr>
              <a:endParaRPr/>
            </a:p>
          </p:txBody>
        </p:sp>
      </p:grpSp>
      <p:sp>
        <p:nvSpPr>
          <p:cNvPr id="29" name="Freeform 29"/>
          <p:cNvSpPr/>
          <p:nvPr/>
        </p:nvSpPr>
        <p:spPr>
          <a:xfrm>
            <a:off x="1399899" y="4728625"/>
            <a:ext cx="267197" cy="424965"/>
          </a:xfrm>
          <a:custGeom>
            <a:avLst/>
            <a:gdLst/>
            <a:ahLst/>
            <a:cxnLst/>
            <a:rect l="l" t="t" r="r" b="b"/>
            <a:pathLst>
              <a:path w="267197" h="424965">
                <a:moveTo>
                  <a:pt x="0" y="0"/>
                </a:moveTo>
                <a:lnTo>
                  <a:pt x="267197" y="0"/>
                </a:lnTo>
                <a:lnTo>
                  <a:pt x="267197" y="424966"/>
                </a:lnTo>
                <a:lnTo>
                  <a:pt x="0" y="4249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30" name="Freeform 30"/>
          <p:cNvSpPr/>
          <p:nvPr/>
        </p:nvSpPr>
        <p:spPr>
          <a:xfrm rot="2322072">
            <a:off x="12613257" y="-1220039"/>
            <a:ext cx="9747597" cy="3094862"/>
          </a:xfrm>
          <a:custGeom>
            <a:avLst/>
            <a:gdLst/>
            <a:ahLst/>
            <a:cxnLst/>
            <a:rect l="l" t="t" r="r" b="b"/>
            <a:pathLst>
              <a:path w="9747597" h="3094862">
                <a:moveTo>
                  <a:pt x="0" y="0"/>
                </a:moveTo>
                <a:lnTo>
                  <a:pt x="9747597" y="0"/>
                </a:lnTo>
                <a:lnTo>
                  <a:pt x="9747597" y="3094862"/>
                </a:lnTo>
                <a:lnTo>
                  <a:pt x="0" y="3094862"/>
                </a:lnTo>
                <a:lnTo>
                  <a:pt x="0" y="0"/>
                </a:lnTo>
                <a:close/>
              </a:path>
            </a:pathLst>
          </a:custGeom>
          <a:blipFill>
            <a:blip>
              <a:alphaModFix amt="15000"/>
              <a:extLst>
                <a:ext uri="{96DAC541-7B7A-43D3-8B79-37D633B846F1}">
                  <asvg:svgBlip xmlns:asvg="http://schemas.microsoft.com/office/drawing/2016/SVG/main" r:embed="rId7"/>
                </a:ext>
              </a:extLst>
            </a:blip>
            <a:stretch>
              <a:fillRect/>
            </a:stretch>
          </a:blipFill>
        </p:spPr>
        <p:txBody>
          <a:bodyPr/>
          <a:lstStyle/>
          <a:p>
            <a:endParaRPr/>
          </a:p>
        </p:txBody>
      </p:sp>
      <p:sp>
        <p:nvSpPr>
          <p:cNvPr id="31" name="Freeform 31"/>
          <p:cNvSpPr/>
          <p:nvPr/>
        </p:nvSpPr>
        <p:spPr>
          <a:xfrm rot="2322072">
            <a:off x="-4278743" y="9636198"/>
            <a:ext cx="9747597" cy="3094862"/>
          </a:xfrm>
          <a:custGeom>
            <a:avLst/>
            <a:gdLst/>
            <a:ahLst/>
            <a:cxnLst/>
            <a:rect l="l" t="t" r="r" b="b"/>
            <a:pathLst>
              <a:path w="9747597" h="3094862">
                <a:moveTo>
                  <a:pt x="0" y="0"/>
                </a:moveTo>
                <a:lnTo>
                  <a:pt x="9747597" y="0"/>
                </a:lnTo>
                <a:lnTo>
                  <a:pt x="9747597" y="3094862"/>
                </a:lnTo>
                <a:lnTo>
                  <a:pt x="0" y="3094862"/>
                </a:lnTo>
                <a:lnTo>
                  <a:pt x="0" y="0"/>
                </a:lnTo>
                <a:close/>
              </a:path>
            </a:pathLst>
          </a:custGeom>
          <a:blipFill>
            <a:blip>
              <a:alphaModFix amt="15000"/>
              <a:extLst>
                <a:ext uri="{96DAC541-7B7A-43D3-8B79-37D633B846F1}">
                  <asvg:svgBlip xmlns:asvg="http://schemas.microsoft.com/office/drawing/2016/SVG/main" r:embed="rId7"/>
                </a:ext>
              </a:extLst>
            </a:blip>
            <a:stretch>
              <a:fillRect/>
            </a:stretch>
          </a:blipFill>
        </p:spPr>
        <p:txBody>
          <a:bodyPr/>
          <a:lstStyle/>
          <a:p>
            <a:endParaRPr/>
          </a:p>
        </p:txBody>
      </p:sp>
      <p:sp>
        <p:nvSpPr>
          <p:cNvPr id="32" name="TextBox 32"/>
          <p:cNvSpPr txBox="1"/>
          <p:nvPr/>
        </p:nvSpPr>
        <p:spPr>
          <a:xfrm>
            <a:off x="1371600" y="1085850"/>
            <a:ext cx="15544800" cy="1188720"/>
          </a:xfrm>
          <a:prstGeom prst="rect">
            <a:avLst/>
          </a:prstGeom>
        </p:spPr>
        <p:txBody>
          <a:bodyPr wrap="square" lIns="0" tIns="0" rIns="0" bIns="0" rtlCol="0" anchor="t"/>
          <a:lstStyle/>
          <a:p>
            <a:pPr algn="ctr">
              <a:lnSpc>
                <a:spcPct val="110000"/>
              </a:lnSpc>
            </a:pPr>
            <a:r>
              <a:rPr sz="6600" b="1">
                <a:solidFill>
                  <a:srgbClr val="000000"/>
                </a:solidFill>
                <a:latin typeface="Arial"/>
              </a:rPr>
              <a:t>THE BUSINESS PROBLEM</a:t>
            </a:r>
          </a:p>
        </p:txBody>
      </p:sp>
      <p:sp>
        <p:nvSpPr>
          <p:cNvPr id="37" name="TextBox 37"/>
          <p:cNvSpPr txBox="1"/>
          <p:nvPr/>
        </p:nvSpPr>
        <p:spPr>
          <a:xfrm>
            <a:off x="2033707" y="4753133"/>
            <a:ext cx="5577840" cy="390765"/>
          </a:xfrm>
          <a:prstGeom prst="rect">
            <a:avLst/>
          </a:prstGeom>
        </p:spPr>
        <p:txBody>
          <a:bodyPr wrap="square" lIns="0" tIns="0" rIns="0" bIns="0" rtlCol="0" anchor="t"/>
          <a:lstStyle/>
          <a:p>
            <a:pPr algn="l">
              <a:lnSpc>
                <a:spcPct val="110000"/>
              </a:lnSpc>
            </a:pPr>
            <a:r>
              <a:rPr sz="2200" b="1">
                <a:solidFill>
                  <a:srgbClr val="000000"/>
                </a:solidFill>
                <a:latin typeface="Arial"/>
              </a:rPr>
              <a:t>30.5%</a:t>
            </a:r>
            <a:r>
              <a:rPr sz="2200" b="0">
                <a:solidFill>
                  <a:srgbClr val="000000"/>
                </a:solidFill>
                <a:latin typeface="Arial"/>
              </a:rPr>
              <a:t> of deliveries arrive late</a:t>
            </a:r>
          </a:p>
        </p:txBody>
      </p:sp>
      <p:sp>
        <p:nvSpPr>
          <p:cNvPr id="38" name="TextBox 38"/>
          <p:cNvSpPr txBox="1"/>
          <p:nvPr/>
        </p:nvSpPr>
        <p:spPr>
          <a:xfrm>
            <a:off x="2033707" y="8060237"/>
            <a:ext cx="5577840" cy="390765"/>
          </a:xfrm>
          <a:prstGeom prst="rect">
            <a:avLst/>
          </a:prstGeom>
        </p:spPr>
        <p:txBody>
          <a:bodyPr wrap="square" lIns="0" tIns="0" rIns="0" bIns="0" rtlCol="0" anchor="t"/>
          <a:lstStyle/>
          <a:p>
            <a:pPr algn="l">
              <a:lnSpc>
                <a:spcPct val="110000"/>
              </a:lnSpc>
            </a:pPr>
            <a:r>
              <a:rPr sz="2200" b="1">
                <a:solidFill>
                  <a:srgbClr val="000000"/>
                </a:solidFill>
                <a:latin typeface="Arial"/>
              </a:rPr>
              <a:t>5 of 20</a:t>
            </a:r>
            <a:r>
              <a:rPr sz="2200" b="0">
                <a:solidFill>
                  <a:srgbClr val="000000"/>
                </a:solidFill>
                <a:latin typeface="Arial"/>
              </a:rPr>
              <a:t> materials below safety stock</a:t>
            </a:r>
          </a:p>
        </p:txBody>
      </p:sp>
      <p:sp>
        <p:nvSpPr>
          <p:cNvPr id="39" name="TextBox 38"/>
          <p:cNvSpPr txBox="1"/>
          <p:nvPr/>
        </p:nvSpPr>
        <p:spPr>
          <a:xfrm>
            <a:off x="1371600" y="2331720"/>
            <a:ext cx="15544800" cy="548640"/>
          </a:xfrm>
          <a:prstGeom prst="rect">
            <a:avLst/>
          </a:prstGeom>
          <a:noFill/>
        </p:spPr>
        <p:txBody>
          <a:bodyPr wrap="square" lIns="45720" rIns="45720"/>
          <a:lstStyle/>
          <a:p>
            <a:pPr algn="ctr">
              <a:lnSpc>
                <a:spcPct val="110000"/>
              </a:lnSpc>
            </a:pPr>
            <a:r>
              <a:rPr sz="2200" b="0">
                <a:solidFill>
                  <a:srgbClr val="000000"/>
                </a:solidFill>
                <a:latin typeface="Arial"/>
              </a:rPr>
              <a:t>68 open purchase orders, 6 of them already overdue. Buyers can't check every order every day.</a:t>
            </a:r>
          </a:p>
        </p:txBody>
      </p:sp>
      <p:sp>
        <p:nvSpPr>
          <p:cNvPr id="40" name="TextBox 39"/>
          <p:cNvSpPr txBox="1"/>
          <p:nvPr/>
        </p:nvSpPr>
        <p:spPr>
          <a:xfrm>
            <a:off x="8595360" y="3429000"/>
            <a:ext cx="8961120" cy="457200"/>
          </a:xfrm>
          <a:prstGeom prst="rect">
            <a:avLst/>
          </a:prstGeom>
          <a:noFill/>
        </p:spPr>
        <p:txBody>
          <a:bodyPr wrap="square" lIns="45720" rIns="45720"/>
          <a:lstStyle/>
          <a:p>
            <a:pPr algn="ctr">
              <a:lnSpc>
                <a:spcPct val="110000"/>
              </a:lnSpc>
            </a:pPr>
            <a:r>
              <a:rPr sz="2000" b="1">
                <a:solidFill>
                  <a:srgbClr val="000000"/>
                </a:solidFill>
                <a:latin typeface="Arial"/>
              </a:rPr>
              <a:t>Late deliveries by supplier category</a:t>
            </a:r>
          </a:p>
        </p:txBody>
      </p:sp>
      <p:sp>
        <p:nvSpPr>
          <p:cNvPr id="41" name="TextBox 40"/>
          <p:cNvSpPr txBox="1"/>
          <p:nvPr/>
        </p:nvSpPr>
        <p:spPr>
          <a:xfrm>
            <a:off x="8595360" y="3886200"/>
            <a:ext cx="8961120" cy="365760"/>
          </a:xfrm>
          <a:prstGeom prst="rect">
            <a:avLst/>
          </a:prstGeom>
          <a:noFill/>
        </p:spPr>
        <p:txBody>
          <a:bodyPr wrap="square" lIns="45720" rIns="45720"/>
          <a:lstStyle/>
          <a:p>
            <a:pPr algn="ctr">
              <a:lnSpc>
                <a:spcPct val="110000"/>
              </a:lnSpc>
            </a:pPr>
            <a:r>
              <a:rPr sz="1400" b="0">
                <a:solidFill>
                  <a:srgbClr val="000000"/>
                </a:solidFill>
                <a:latin typeface="Arial"/>
              </a:rPr>
              <a:t>Share of the 1,607 closed orders delivered after the promised date (synthetic data)</a:t>
            </a:r>
          </a:p>
        </p:txBody>
      </p:sp>
      <p:graphicFrame>
        <p:nvGraphicFramePr>
          <p:cNvPr id="42" name="Chart 41"/>
          <p:cNvGraphicFramePr>
            <a:graphicFrameLocks noGrp="1"/>
          </p:cNvGraphicFramePr>
          <p:nvPr/>
        </p:nvGraphicFramePr>
        <p:xfrm>
          <a:off x="8595360" y="4297680"/>
          <a:ext cx="8961120" cy="5120640"/>
        </p:xfrm>
        <a:graphic>
          <a:graphicData uri="http://schemas.openxmlformats.org/drawingml/2006/chart">
            <c:chart xmlns:c="http://schemas.openxmlformats.org/drawingml/2006/chart" xmlns:r="http://schemas.openxmlformats.org/officeDocument/2006/relationships" r:id="rId8"/>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314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grpSp>
        <p:nvGrpSpPr>
          <p:cNvPr id="3" name="Group 3"/>
          <p:cNvGrpSpPr/>
          <p:nvPr/>
        </p:nvGrpSpPr>
        <p:grpSpPr>
          <a:xfrm>
            <a:off x="1059631" y="3896218"/>
            <a:ext cx="1597179" cy="159717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632103"/>
            </a:solidFill>
          </p:spPr>
          <p:txBody>
            <a:bodyPr/>
            <a:lstStyle/>
            <a:p>
              <a:endParaRPr/>
            </a:p>
          </p:txBody>
        </p:sp>
        <p:sp>
          <p:nvSpPr>
            <p:cNvPr id="5" name="TextBox 5"/>
            <p:cNvSpPr txBox="1"/>
            <p:nvPr/>
          </p:nvSpPr>
          <p:spPr>
            <a:xfrm>
              <a:off x="139700" y="92075"/>
              <a:ext cx="533400" cy="581025"/>
            </a:xfrm>
            <a:prstGeom prst="rect">
              <a:avLst/>
            </a:prstGeom>
          </p:spPr>
          <p:txBody>
            <a:bodyPr lIns="50800" tIns="50800" rIns="50800" bIns="50800" rtlCol="0" anchor="ctr"/>
            <a:lstStyle/>
            <a:p>
              <a:pPr algn="ctr">
                <a:lnSpc>
                  <a:spcPts val="3359"/>
                </a:lnSpc>
              </a:pPr>
              <a:endParaRPr/>
            </a:p>
          </p:txBody>
        </p:sp>
      </p:grpSp>
      <p:grpSp>
        <p:nvGrpSpPr>
          <p:cNvPr id="6" name="Group 6"/>
          <p:cNvGrpSpPr/>
          <p:nvPr/>
        </p:nvGrpSpPr>
        <p:grpSpPr>
          <a:xfrm>
            <a:off x="1028700" y="5910305"/>
            <a:ext cx="1597179" cy="159717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5100"/>
            </a:solidFill>
          </p:spPr>
          <p:txBody>
            <a:bodyPr/>
            <a:lstStyle/>
            <a:p>
              <a:endParaRPr/>
            </a:p>
          </p:txBody>
        </p:sp>
        <p:sp>
          <p:nvSpPr>
            <p:cNvPr id="8" name="TextBox 8"/>
            <p:cNvSpPr txBox="1"/>
            <p:nvPr/>
          </p:nvSpPr>
          <p:spPr>
            <a:xfrm>
              <a:off x="139700" y="92075"/>
              <a:ext cx="533400" cy="581025"/>
            </a:xfrm>
            <a:prstGeom prst="rect">
              <a:avLst/>
            </a:prstGeom>
          </p:spPr>
          <p:txBody>
            <a:bodyPr lIns="50800" tIns="50800" rIns="50800" bIns="50800" rtlCol="0" anchor="ctr"/>
            <a:lstStyle/>
            <a:p>
              <a:pPr algn="ctr">
                <a:lnSpc>
                  <a:spcPts val="3359"/>
                </a:lnSpc>
              </a:pPr>
              <a:endParaRPr/>
            </a:p>
          </p:txBody>
        </p:sp>
      </p:grpSp>
      <p:grpSp>
        <p:nvGrpSpPr>
          <p:cNvPr id="9" name="Group 9"/>
          <p:cNvGrpSpPr/>
          <p:nvPr/>
        </p:nvGrpSpPr>
        <p:grpSpPr>
          <a:xfrm>
            <a:off x="14557652" y="2007700"/>
            <a:ext cx="7460697" cy="746069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5100"/>
            </a:solidFill>
          </p:spPr>
          <p:txBody>
            <a:bodyPr/>
            <a:lstStyle/>
            <a:p>
              <a:endParaRPr/>
            </a:p>
          </p:txBody>
        </p:sp>
        <p:sp>
          <p:nvSpPr>
            <p:cNvPr id="11" name="TextBox 11"/>
            <p:cNvSpPr txBox="1"/>
            <p:nvPr/>
          </p:nvSpPr>
          <p:spPr>
            <a:xfrm>
              <a:off x="139700" y="92075"/>
              <a:ext cx="533400" cy="581025"/>
            </a:xfrm>
            <a:prstGeom prst="rect">
              <a:avLst/>
            </a:prstGeom>
          </p:spPr>
          <p:txBody>
            <a:bodyPr lIns="50800" tIns="50800" rIns="50800" bIns="50800" rtlCol="0" anchor="ctr"/>
            <a:lstStyle/>
            <a:p>
              <a:pPr algn="ctr">
                <a:lnSpc>
                  <a:spcPts val="3359"/>
                </a:lnSpc>
              </a:pPr>
              <a:endParaRPr/>
            </a:p>
          </p:txBody>
        </p:sp>
      </p:grpSp>
      <p:grpSp>
        <p:nvGrpSpPr>
          <p:cNvPr id="12" name="Group 12"/>
          <p:cNvGrpSpPr/>
          <p:nvPr/>
        </p:nvGrpSpPr>
        <p:grpSpPr>
          <a:xfrm>
            <a:off x="12390556" y="-5452997"/>
            <a:ext cx="7460697" cy="746069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A800"/>
            </a:solidFill>
          </p:spPr>
          <p:txBody>
            <a:bodyPr/>
            <a:lstStyle/>
            <a:p>
              <a:endParaRPr/>
            </a:p>
          </p:txBody>
        </p:sp>
        <p:sp>
          <p:nvSpPr>
            <p:cNvPr id="14" name="TextBox 14"/>
            <p:cNvSpPr txBox="1"/>
            <p:nvPr/>
          </p:nvSpPr>
          <p:spPr>
            <a:xfrm>
              <a:off x="139700" y="92075"/>
              <a:ext cx="533400" cy="581025"/>
            </a:xfrm>
            <a:prstGeom prst="rect">
              <a:avLst/>
            </a:prstGeom>
          </p:spPr>
          <p:txBody>
            <a:bodyPr lIns="50800" tIns="50800" rIns="50800" bIns="50800" rtlCol="0" anchor="ctr"/>
            <a:lstStyle/>
            <a:p>
              <a:pPr algn="ctr">
                <a:lnSpc>
                  <a:spcPts val="3359"/>
                </a:lnSpc>
              </a:pPr>
              <a:endParaRPr/>
            </a:p>
          </p:txBody>
        </p:sp>
      </p:grpSp>
      <p:grpSp>
        <p:nvGrpSpPr>
          <p:cNvPr id="15" name="Group 15"/>
          <p:cNvGrpSpPr/>
          <p:nvPr/>
        </p:nvGrpSpPr>
        <p:grpSpPr>
          <a:xfrm>
            <a:off x="12390556" y="-6339678"/>
            <a:ext cx="7460697" cy="746069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632103"/>
            </a:solidFill>
          </p:spPr>
          <p:txBody>
            <a:bodyPr/>
            <a:lstStyle/>
            <a:p>
              <a:endParaRPr/>
            </a:p>
          </p:txBody>
        </p:sp>
        <p:sp>
          <p:nvSpPr>
            <p:cNvPr id="17" name="TextBox 17"/>
            <p:cNvSpPr txBox="1"/>
            <p:nvPr/>
          </p:nvSpPr>
          <p:spPr>
            <a:xfrm>
              <a:off x="139700" y="92075"/>
              <a:ext cx="533400" cy="581025"/>
            </a:xfrm>
            <a:prstGeom prst="rect">
              <a:avLst/>
            </a:prstGeom>
          </p:spPr>
          <p:txBody>
            <a:bodyPr lIns="50800" tIns="50800" rIns="50800" bIns="50800" rtlCol="0" anchor="ctr"/>
            <a:lstStyle/>
            <a:p>
              <a:pPr algn="ctr">
                <a:lnSpc>
                  <a:spcPts val="3359"/>
                </a:lnSpc>
              </a:pPr>
              <a:endParaRPr/>
            </a:p>
          </p:txBody>
        </p:sp>
      </p:grpSp>
      <p:grpSp>
        <p:nvGrpSpPr>
          <p:cNvPr id="18" name="Group 18"/>
          <p:cNvGrpSpPr/>
          <p:nvPr/>
        </p:nvGrpSpPr>
        <p:grpSpPr>
          <a:xfrm>
            <a:off x="12965920" y="7871218"/>
            <a:ext cx="7460697" cy="746069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632103"/>
            </a:solidFill>
            <a:ln w="38100" cap="sq">
              <a:solidFill>
                <a:srgbClr val="000000"/>
              </a:solidFill>
              <a:prstDash val="solid"/>
              <a:miter/>
            </a:ln>
          </p:spPr>
          <p:txBody>
            <a:bodyPr/>
            <a:lstStyle/>
            <a:p>
              <a:endParaRPr/>
            </a:p>
          </p:txBody>
        </p:sp>
        <p:sp>
          <p:nvSpPr>
            <p:cNvPr id="20" name="TextBox 20"/>
            <p:cNvSpPr txBox="1"/>
            <p:nvPr/>
          </p:nvSpPr>
          <p:spPr>
            <a:xfrm>
              <a:off x="139700" y="92075"/>
              <a:ext cx="533400" cy="581025"/>
            </a:xfrm>
            <a:prstGeom prst="rect">
              <a:avLst/>
            </a:prstGeom>
          </p:spPr>
          <p:txBody>
            <a:bodyPr lIns="50800" tIns="50800" rIns="50800" bIns="50800" rtlCol="0" anchor="ctr"/>
            <a:lstStyle/>
            <a:p>
              <a:pPr algn="ctr">
                <a:lnSpc>
                  <a:spcPts val="3359"/>
                </a:lnSpc>
              </a:pPr>
              <a:endParaRPr/>
            </a:p>
          </p:txBody>
        </p:sp>
      </p:grpSp>
      <p:sp>
        <p:nvSpPr>
          <p:cNvPr id="21" name="TextBox 21"/>
          <p:cNvSpPr txBox="1"/>
          <p:nvPr/>
        </p:nvSpPr>
        <p:spPr>
          <a:xfrm>
            <a:off x="921313" y="1610719"/>
            <a:ext cx="12179994" cy="2034540"/>
          </a:xfrm>
          <a:prstGeom prst="rect">
            <a:avLst/>
          </a:prstGeom>
        </p:spPr>
        <p:txBody>
          <a:bodyPr wrap="square" lIns="0" tIns="0" rIns="0" bIns="0" rtlCol="0" anchor="t"/>
          <a:lstStyle/>
          <a:p>
            <a:pPr algn="l">
              <a:lnSpc>
                <a:spcPct val="110000"/>
              </a:lnSpc>
            </a:pPr>
            <a:r>
              <a:rPr sz="6600" b="1" dirty="0">
                <a:solidFill>
                  <a:srgbClr val="000000"/>
                </a:solidFill>
                <a:latin typeface="Arial"/>
              </a:rPr>
              <a:t>PROPOSED SOLUTION</a:t>
            </a:r>
          </a:p>
        </p:txBody>
      </p:sp>
      <p:grpSp>
        <p:nvGrpSpPr>
          <p:cNvPr id="22" name="Group 22"/>
          <p:cNvGrpSpPr/>
          <p:nvPr/>
        </p:nvGrpSpPr>
        <p:grpSpPr>
          <a:xfrm>
            <a:off x="1028700" y="7871218"/>
            <a:ext cx="1597179" cy="1597179"/>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A800"/>
            </a:solidFill>
          </p:spPr>
          <p:txBody>
            <a:bodyPr/>
            <a:lstStyle/>
            <a:p>
              <a:endParaRPr/>
            </a:p>
          </p:txBody>
        </p:sp>
        <p:sp>
          <p:nvSpPr>
            <p:cNvPr id="24" name="TextBox 24"/>
            <p:cNvSpPr txBox="1"/>
            <p:nvPr/>
          </p:nvSpPr>
          <p:spPr>
            <a:xfrm>
              <a:off x="139700" y="92075"/>
              <a:ext cx="533400" cy="581025"/>
            </a:xfrm>
            <a:prstGeom prst="rect">
              <a:avLst/>
            </a:prstGeom>
          </p:spPr>
          <p:txBody>
            <a:bodyPr lIns="50800" tIns="50800" rIns="50800" bIns="50800" rtlCol="0" anchor="ctr"/>
            <a:lstStyle/>
            <a:p>
              <a:pPr algn="ctr">
                <a:lnSpc>
                  <a:spcPts val="3359"/>
                </a:lnSpc>
              </a:pPr>
              <a:endParaRPr/>
            </a:p>
          </p:txBody>
        </p:sp>
      </p:grpSp>
      <p:grpSp>
        <p:nvGrpSpPr>
          <p:cNvPr id="25" name="Group 25"/>
          <p:cNvGrpSpPr/>
          <p:nvPr/>
        </p:nvGrpSpPr>
        <p:grpSpPr>
          <a:xfrm rot="-2700000">
            <a:off x="15716250" y="1022729"/>
            <a:ext cx="3086100" cy="3086100"/>
            <a:chOff x="0" y="0"/>
            <a:chExt cx="812800" cy="812800"/>
          </a:xfrm>
        </p:grpSpPr>
        <p:sp>
          <p:nvSpPr>
            <p:cNvPr id="26" name="Freeform 2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47625" cap="sq">
              <a:solidFill>
                <a:srgbClr val="632103"/>
              </a:solidFill>
              <a:prstDash val="solid"/>
              <a:miter/>
            </a:ln>
          </p:spPr>
          <p:txBody>
            <a:bodyPr/>
            <a:lstStyle/>
            <a:p>
              <a:endParaRPr/>
            </a:p>
          </p:txBody>
        </p:sp>
        <p:sp>
          <p:nvSpPr>
            <p:cNvPr id="27" name="TextBox 27"/>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sp>
        <p:nvSpPr>
          <p:cNvPr id="28" name="Freeform 28"/>
          <p:cNvSpPr/>
          <p:nvPr/>
        </p:nvSpPr>
        <p:spPr>
          <a:xfrm>
            <a:off x="15674790" y="8964990"/>
            <a:ext cx="3926318" cy="3474791"/>
          </a:xfrm>
          <a:custGeom>
            <a:avLst/>
            <a:gdLst/>
            <a:ahLst/>
            <a:cxnLst/>
            <a:rect l="l" t="t" r="r" b="b"/>
            <a:pathLst>
              <a:path w="3926318" h="3474791">
                <a:moveTo>
                  <a:pt x="0" y="0"/>
                </a:moveTo>
                <a:lnTo>
                  <a:pt x="3926317" y="0"/>
                </a:lnTo>
                <a:lnTo>
                  <a:pt x="3926317" y="3474791"/>
                </a:lnTo>
                <a:lnTo>
                  <a:pt x="0" y="3474791"/>
                </a:lnTo>
                <a:lnTo>
                  <a:pt x="0" y="0"/>
                </a:lnTo>
                <a:close/>
              </a:path>
            </a:pathLst>
          </a:custGeom>
          <a:blipFill>
            <a:blip>
              <a:alphaModFix amt="35000"/>
              <a:extLst>
                <a:ext uri="{96DAC541-7B7A-43D3-8B79-37D633B846F1}">
                  <asvg:svgBlip xmlns:asvg="http://schemas.microsoft.com/office/drawing/2016/SVG/main" r:embed="rId4"/>
                </a:ext>
              </a:extLst>
            </a:blip>
            <a:stretch>
              <a:fillRect/>
            </a:stretch>
          </a:blipFill>
        </p:spPr>
        <p:txBody>
          <a:bodyPr/>
          <a:lstStyle/>
          <a:p>
            <a:endParaRPr/>
          </a:p>
        </p:txBody>
      </p:sp>
      <p:grpSp>
        <p:nvGrpSpPr>
          <p:cNvPr id="29" name="Group 29"/>
          <p:cNvGrpSpPr/>
          <p:nvPr/>
        </p:nvGrpSpPr>
        <p:grpSpPr>
          <a:xfrm rot="-2700000">
            <a:off x="13191787" y="9308959"/>
            <a:ext cx="3086100" cy="3086100"/>
            <a:chOff x="0" y="0"/>
            <a:chExt cx="812800" cy="812800"/>
          </a:xfrm>
        </p:grpSpPr>
        <p:sp>
          <p:nvSpPr>
            <p:cNvPr id="30" name="Freeform 3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38100" cap="sq">
              <a:solidFill>
                <a:srgbClr val="FF5100"/>
              </a:solidFill>
              <a:prstDash val="solid"/>
              <a:miter/>
            </a:ln>
          </p:spPr>
          <p:txBody>
            <a:bodyPr/>
            <a:lstStyle/>
            <a:p>
              <a:endParaRPr/>
            </a:p>
          </p:txBody>
        </p:sp>
        <p:sp>
          <p:nvSpPr>
            <p:cNvPr id="31" name="TextBox 31"/>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sp>
        <p:nvSpPr>
          <p:cNvPr id="32" name="Freeform 32"/>
          <p:cNvSpPr/>
          <p:nvPr/>
        </p:nvSpPr>
        <p:spPr>
          <a:xfrm rot="2700000">
            <a:off x="14634104" y="6372689"/>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41000"/>
              <a:extLst>
                <a:ext uri="{96DAC541-7B7A-43D3-8B79-37D633B846F1}">
                  <asvg:svgBlip xmlns:asvg="http://schemas.microsoft.com/office/drawing/2016/SVG/main" r:embed="rId5"/>
                </a:ext>
              </a:extLst>
            </a:blip>
            <a:stretch>
              <a:fillRect/>
            </a:stretch>
          </a:blipFill>
        </p:spPr>
        <p:txBody>
          <a:bodyPr/>
          <a:lstStyle/>
          <a:p>
            <a:endParaRPr/>
          </a:p>
        </p:txBody>
      </p:sp>
      <p:grpSp>
        <p:nvGrpSpPr>
          <p:cNvPr id="33" name="Group 33"/>
          <p:cNvGrpSpPr/>
          <p:nvPr/>
        </p:nvGrpSpPr>
        <p:grpSpPr>
          <a:xfrm>
            <a:off x="12965920" y="2806289"/>
            <a:ext cx="7325774" cy="7325774"/>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6"/>
              <a:stretch>
                <a:fillRect l="-9257" r="-40606"/>
              </a:stretch>
            </a:blipFill>
            <a:ln w="152400" cap="sq">
              <a:solidFill>
                <a:srgbClr val="FFFFFF"/>
              </a:solidFill>
              <a:prstDash val="solid"/>
              <a:miter/>
            </a:ln>
          </p:spPr>
          <p:txBody>
            <a:bodyPr/>
            <a:lstStyle/>
            <a:p>
              <a:endParaRPr/>
            </a:p>
          </p:txBody>
        </p:sp>
      </p:grpSp>
      <p:sp>
        <p:nvSpPr>
          <p:cNvPr id="35" name="Freeform 35"/>
          <p:cNvSpPr/>
          <p:nvPr/>
        </p:nvSpPr>
        <p:spPr>
          <a:xfrm>
            <a:off x="1488045" y="6443860"/>
            <a:ext cx="678488" cy="530069"/>
          </a:xfrm>
          <a:custGeom>
            <a:avLst/>
            <a:gdLst/>
            <a:ahLst/>
            <a:cxnLst/>
            <a:rect l="l" t="t" r="r" b="b"/>
            <a:pathLst>
              <a:path w="678488" h="530069">
                <a:moveTo>
                  <a:pt x="0" y="0"/>
                </a:moveTo>
                <a:lnTo>
                  <a:pt x="678488" y="0"/>
                </a:lnTo>
                <a:lnTo>
                  <a:pt x="678488" y="530069"/>
                </a:lnTo>
                <a:lnTo>
                  <a:pt x="0" y="530069"/>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a:p>
        </p:txBody>
      </p:sp>
      <p:sp>
        <p:nvSpPr>
          <p:cNvPr id="36" name="Freeform 36"/>
          <p:cNvSpPr/>
          <p:nvPr/>
        </p:nvSpPr>
        <p:spPr>
          <a:xfrm>
            <a:off x="1560119" y="4403936"/>
            <a:ext cx="534342" cy="588806"/>
          </a:xfrm>
          <a:custGeom>
            <a:avLst/>
            <a:gdLst/>
            <a:ahLst/>
            <a:cxnLst/>
            <a:rect l="l" t="t" r="r" b="b"/>
            <a:pathLst>
              <a:path w="534342" h="588806">
                <a:moveTo>
                  <a:pt x="0" y="0"/>
                </a:moveTo>
                <a:lnTo>
                  <a:pt x="534341" y="0"/>
                </a:lnTo>
                <a:lnTo>
                  <a:pt x="534341" y="588806"/>
                </a:lnTo>
                <a:lnTo>
                  <a:pt x="0" y="588806"/>
                </a:lnTo>
                <a:lnTo>
                  <a:pt x="0" y="0"/>
                </a:lnTo>
                <a:close/>
              </a:path>
            </a:pathLst>
          </a:custGeom>
          <a:blipFill>
            <a:blip>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a:p>
        </p:txBody>
      </p:sp>
      <p:sp>
        <p:nvSpPr>
          <p:cNvPr id="37" name="Freeform 37"/>
          <p:cNvSpPr/>
          <p:nvPr/>
        </p:nvSpPr>
        <p:spPr>
          <a:xfrm>
            <a:off x="1488045" y="8336159"/>
            <a:ext cx="668609" cy="668609"/>
          </a:xfrm>
          <a:custGeom>
            <a:avLst/>
            <a:gdLst/>
            <a:ahLst/>
            <a:cxnLst/>
            <a:rect l="l" t="t" r="r" b="b"/>
            <a:pathLst>
              <a:path w="668609" h="668609">
                <a:moveTo>
                  <a:pt x="0" y="0"/>
                </a:moveTo>
                <a:lnTo>
                  <a:pt x="668609" y="0"/>
                </a:lnTo>
                <a:lnTo>
                  <a:pt x="668609" y="668609"/>
                </a:lnTo>
                <a:lnTo>
                  <a:pt x="0" y="668609"/>
                </a:lnTo>
                <a:lnTo>
                  <a:pt x="0" y="0"/>
                </a:lnTo>
                <a:close/>
              </a:path>
            </a:pathLst>
          </a:custGeom>
          <a:blipFill>
            <a:blip>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a:p>
        </p:txBody>
      </p:sp>
      <p:sp>
        <p:nvSpPr>
          <p:cNvPr id="38" name="Freeform 38"/>
          <p:cNvSpPr/>
          <p:nvPr/>
        </p:nvSpPr>
        <p:spPr>
          <a:xfrm flipH="1">
            <a:off x="-2774662" y="-1973730"/>
            <a:ext cx="3963408" cy="3215314"/>
          </a:xfrm>
          <a:custGeom>
            <a:avLst/>
            <a:gdLst/>
            <a:ahLst/>
            <a:cxnLst/>
            <a:rect l="l" t="t" r="r" b="b"/>
            <a:pathLst>
              <a:path w="3963408" h="3215314">
                <a:moveTo>
                  <a:pt x="3963407" y="0"/>
                </a:moveTo>
                <a:lnTo>
                  <a:pt x="0" y="0"/>
                </a:lnTo>
                <a:lnTo>
                  <a:pt x="0" y="3215315"/>
                </a:lnTo>
                <a:lnTo>
                  <a:pt x="3963407" y="3215315"/>
                </a:lnTo>
                <a:lnTo>
                  <a:pt x="3963407"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a:p>
        </p:txBody>
      </p:sp>
      <p:sp>
        <p:nvSpPr>
          <p:cNvPr id="39" name="Freeform 39"/>
          <p:cNvSpPr/>
          <p:nvPr/>
        </p:nvSpPr>
        <p:spPr>
          <a:xfrm>
            <a:off x="0" y="10034206"/>
            <a:ext cx="1550334" cy="505588"/>
          </a:xfrm>
          <a:custGeom>
            <a:avLst/>
            <a:gdLst/>
            <a:ahLst/>
            <a:cxnLst/>
            <a:rect l="l" t="t" r="r" b="b"/>
            <a:pathLst>
              <a:path w="1550334" h="505588">
                <a:moveTo>
                  <a:pt x="0" y="0"/>
                </a:moveTo>
                <a:lnTo>
                  <a:pt x="1550334" y="0"/>
                </a:lnTo>
                <a:lnTo>
                  <a:pt x="1550334" y="505588"/>
                </a:lnTo>
                <a:lnTo>
                  <a:pt x="0" y="505588"/>
                </a:lnTo>
                <a:lnTo>
                  <a:pt x="0" y="0"/>
                </a:lnTo>
                <a:close/>
              </a:path>
            </a:pathLst>
          </a:custGeom>
          <a:blipFill>
            <a:blip>
              <a:alphaModFix amt="26000"/>
              <a:extLst>
                <a:ext uri="{96DAC541-7B7A-43D3-8B79-37D633B846F1}">
                  <asvg:svgBlip xmlns:asvg="http://schemas.microsoft.com/office/drawing/2016/SVG/main" r:embed="rId11"/>
                </a:ext>
              </a:extLst>
            </a:blip>
            <a:stretch>
              <a:fillRect b="-83984"/>
            </a:stretch>
          </a:blipFill>
        </p:spPr>
        <p:txBody>
          <a:bodyPr/>
          <a:lstStyle/>
          <a:p>
            <a:endParaRPr/>
          </a:p>
        </p:txBody>
      </p:sp>
      <p:sp>
        <p:nvSpPr>
          <p:cNvPr id="40" name="TextBox 40"/>
          <p:cNvSpPr txBox="1"/>
          <p:nvPr/>
        </p:nvSpPr>
        <p:spPr>
          <a:xfrm>
            <a:off x="3034177" y="4605073"/>
            <a:ext cx="9075434" cy="914400"/>
          </a:xfrm>
          <a:prstGeom prst="rect">
            <a:avLst/>
          </a:prstGeom>
        </p:spPr>
        <p:txBody>
          <a:bodyPr wrap="square" lIns="0" tIns="0" rIns="0" bIns="0" rtlCol="0" anchor="t"/>
          <a:lstStyle/>
          <a:p>
            <a:pPr marL="342900" lvl="0" indent="-342900">
              <a:buFont typeface="Arial" panose="020B0604020202020204" pitchFamily="34" charset="0"/>
              <a:buChar char="•"/>
            </a:pPr>
            <a:r>
              <a:rPr lang="fr-FR" sz="2000" dirty="0">
                <a:latin typeface="Arial" panose="020B0604020202020204" pitchFamily="34" charset="0"/>
                <a:cs typeface="Arial" panose="020B0604020202020204" pitchFamily="34" charset="0"/>
              </a:rPr>
              <a:t>Screen all 68 open </a:t>
            </a:r>
            <a:r>
              <a:rPr lang="fr-FR" sz="2000" dirty="0" err="1">
                <a:latin typeface="Arial" panose="020B0604020202020204" pitchFamily="34" charset="0"/>
                <a:cs typeface="Arial" panose="020B0604020202020204" pitchFamily="34" charset="0"/>
              </a:rPr>
              <a:t>purchase</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orders</a:t>
            </a:r>
            <a:r>
              <a:rPr lang="fr-FR" sz="2000" dirty="0">
                <a:latin typeface="Arial" panose="020B0604020202020204" pitchFamily="34" charset="0"/>
                <a:cs typeface="Arial" panose="020B0604020202020204" pitchFamily="34" charset="0"/>
              </a:rPr>
              <a:t>.</a:t>
            </a:r>
          </a:p>
          <a:p>
            <a:pPr marL="342900" lvl="0" indent="-342900">
              <a:buFont typeface="Arial" panose="020B0604020202020204" pitchFamily="34" charset="0"/>
              <a:buChar char="•"/>
            </a:pPr>
            <a:r>
              <a:rPr lang="fr-FR" sz="2000" dirty="0">
                <a:latin typeface="Arial" panose="020B0604020202020204" pitchFamily="34" charset="0"/>
                <a:cs typeface="Arial" panose="020B0604020202020204" pitchFamily="34" charset="0"/>
              </a:rPr>
              <a:t>Combine business </a:t>
            </a:r>
            <a:r>
              <a:rPr lang="fr-FR" sz="2000" dirty="0" err="1">
                <a:latin typeface="Arial" panose="020B0604020202020204" pitchFamily="34" charset="0"/>
                <a:cs typeface="Arial" panose="020B0604020202020204" pitchFamily="34" charset="0"/>
              </a:rPr>
              <a:t>rules</a:t>
            </a:r>
            <a:r>
              <a:rPr lang="fr-FR" sz="2000" dirty="0">
                <a:latin typeface="Arial" panose="020B0604020202020204" pitchFamily="34" charset="0"/>
                <a:cs typeface="Arial" panose="020B0604020202020204" pitchFamily="34" charset="0"/>
              </a:rPr>
              <a:t> and supplier </a:t>
            </a:r>
            <a:r>
              <a:rPr lang="fr-FR" sz="2000" dirty="0" err="1">
                <a:latin typeface="Arial" panose="020B0604020202020204" pitchFamily="34" charset="0"/>
                <a:cs typeface="Arial" panose="020B0604020202020204" pitchFamily="34" charset="0"/>
              </a:rPr>
              <a:t>late</a:t>
            </a:r>
            <a:r>
              <a:rPr lang="fr-FR" sz="2000" dirty="0">
                <a:latin typeface="Arial" panose="020B0604020202020204" pitchFamily="34" charset="0"/>
                <a:cs typeface="Arial" panose="020B0604020202020204" pitchFamily="34" charset="0"/>
              </a:rPr>
              <a:t>-rate </a:t>
            </a:r>
            <a:r>
              <a:rPr lang="fr-FR" sz="2000" dirty="0" err="1">
                <a:latin typeface="Arial" panose="020B0604020202020204" pitchFamily="34" charset="0"/>
                <a:cs typeface="Arial" panose="020B0604020202020204" pitchFamily="34" charset="0"/>
              </a:rPr>
              <a:t>statistics</a:t>
            </a:r>
            <a:r>
              <a:rPr lang="fr-FR" sz="2000" dirty="0">
                <a:latin typeface="Arial" panose="020B0604020202020204" pitchFamily="34" charset="0"/>
                <a:cs typeface="Arial" panose="020B0604020202020204" pitchFamily="34" charset="0"/>
              </a:rPr>
              <a:t> to </a:t>
            </a:r>
            <a:r>
              <a:rPr lang="fr-FR" sz="2000" dirty="0" err="1">
                <a:latin typeface="Arial" panose="020B0604020202020204" pitchFamily="34" charset="0"/>
                <a:cs typeface="Arial" panose="020B0604020202020204" pitchFamily="34" charset="0"/>
              </a:rPr>
              <a:t>assess</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delay</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risk</a:t>
            </a:r>
            <a:r>
              <a:rPr lang="fr-FR" sz="2000" dirty="0">
                <a:latin typeface="Arial" panose="020B0604020202020204" pitchFamily="34" charset="0"/>
                <a:cs typeface="Arial" panose="020B0604020202020204" pitchFamily="34" charset="0"/>
              </a:rPr>
              <a:t>.</a:t>
            </a:r>
          </a:p>
          <a:p>
            <a:pPr marL="342900" lvl="0" indent="-342900">
              <a:buFont typeface="Arial" panose="020B0604020202020204" pitchFamily="34" charset="0"/>
              <a:buChar char="•"/>
            </a:pPr>
            <a:r>
              <a:rPr lang="fr-FR" sz="2000" dirty="0">
                <a:latin typeface="Arial" panose="020B0604020202020204" pitchFamily="34" charset="0"/>
                <a:cs typeface="Arial" panose="020B0604020202020204" pitchFamily="34" charset="0"/>
              </a:rPr>
              <a:t>Rank </a:t>
            </a:r>
            <a:r>
              <a:rPr lang="fr-FR" sz="2000" dirty="0" err="1">
                <a:latin typeface="Arial" panose="020B0604020202020204" pitchFamily="34" charset="0"/>
                <a:cs typeface="Arial" panose="020B0604020202020204" pitchFamily="34" charset="0"/>
              </a:rPr>
              <a:t>orders</a:t>
            </a:r>
            <a:r>
              <a:rPr lang="fr-FR" sz="2000" dirty="0">
                <a:latin typeface="Arial" panose="020B0604020202020204" pitchFamily="34" charset="0"/>
                <a:cs typeface="Arial" panose="020B0604020202020204" pitchFamily="34" charset="0"/>
              </a:rPr>
              <a:t> by </a:t>
            </a:r>
            <a:r>
              <a:rPr lang="fr-FR" sz="2000" dirty="0" err="1">
                <a:latin typeface="Arial" panose="020B0604020202020204" pitchFamily="34" charset="0"/>
                <a:cs typeface="Arial" panose="020B0604020202020204" pitchFamily="34" charset="0"/>
              </a:rPr>
              <a:t>risk</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urgency</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material</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criticality</a:t>
            </a:r>
            <a:r>
              <a:rPr lang="fr-FR" sz="2000" dirty="0">
                <a:latin typeface="Arial" panose="020B0604020202020204" pitchFamily="34" charset="0"/>
                <a:cs typeface="Arial" panose="020B0604020202020204" pitchFamily="34" charset="0"/>
              </a:rPr>
              <a:t> and </a:t>
            </a:r>
            <a:r>
              <a:rPr lang="fr-FR" sz="2000" dirty="0" err="1">
                <a:latin typeface="Arial" panose="020B0604020202020204" pitchFamily="34" charset="0"/>
                <a:cs typeface="Arial" panose="020B0604020202020204" pitchFamily="34" charset="0"/>
              </a:rPr>
              <a:t>financial</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exposure</a:t>
            </a:r>
            <a:endParaRPr lang="fr-FR" sz="2000" dirty="0">
              <a:latin typeface="Arial" panose="020B0604020202020204" pitchFamily="34" charset="0"/>
              <a:cs typeface="Arial" panose="020B0604020202020204" pitchFamily="34" charset="0"/>
            </a:endParaRPr>
          </a:p>
          <a:p>
            <a:pPr lvl="0"/>
            <a:r>
              <a:rPr lang="fr-FR" sz="2000" dirty="0">
                <a:latin typeface="Arial" panose="020B0604020202020204" pitchFamily="34" charset="0"/>
                <a:cs typeface="Arial" panose="020B0604020202020204" pitchFamily="34" charset="0"/>
              </a:rPr>
              <a:t>.</a:t>
            </a:r>
          </a:p>
        </p:txBody>
      </p:sp>
      <p:sp>
        <p:nvSpPr>
          <p:cNvPr id="41" name="TextBox 41"/>
          <p:cNvSpPr txBox="1"/>
          <p:nvPr/>
        </p:nvSpPr>
        <p:spPr>
          <a:xfrm>
            <a:off x="3066561" y="4117498"/>
            <a:ext cx="8778240" cy="390765"/>
          </a:xfrm>
          <a:prstGeom prst="rect">
            <a:avLst/>
          </a:prstGeom>
        </p:spPr>
        <p:txBody>
          <a:bodyPr wrap="square" lIns="0" tIns="0" rIns="0" bIns="0" rtlCol="0" anchor="t"/>
          <a:lstStyle/>
          <a:p>
            <a:pPr algn="l">
              <a:lnSpc>
                <a:spcPct val="110000"/>
              </a:lnSpc>
            </a:pPr>
            <a:r>
              <a:rPr sz="2600" b="1" dirty="0">
                <a:solidFill>
                  <a:srgbClr val="000000"/>
                </a:solidFill>
                <a:latin typeface="Arial"/>
              </a:rPr>
              <a:t>Detect and prioritize</a:t>
            </a:r>
          </a:p>
        </p:txBody>
      </p:sp>
      <p:sp>
        <p:nvSpPr>
          <p:cNvPr id="42" name="TextBox 42"/>
          <p:cNvSpPr txBox="1"/>
          <p:nvPr/>
        </p:nvSpPr>
        <p:spPr>
          <a:xfrm>
            <a:off x="3066561" y="6078410"/>
            <a:ext cx="8778240" cy="390765"/>
          </a:xfrm>
          <a:prstGeom prst="rect">
            <a:avLst/>
          </a:prstGeom>
        </p:spPr>
        <p:txBody>
          <a:bodyPr wrap="square" lIns="0" tIns="0" rIns="0" bIns="0" rtlCol="0" anchor="t"/>
          <a:lstStyle/>
          <a:p>
            <a:pPr algn="l">
              <a:lnSpc>
                <a:spcPct val="110000"/>
              </a:lnSpc>
            </a:pPr>
            <a:r>
              <a:rPr sz="2600" b="1">
                <a:solidFill>
                  <a:srgbClr val="000000"/>
                </a:solidFill>
                <a:latin typeface="Arial"/>
              </a:rPr>
              <a:t>Investigate and explain</a:t>
            </a:r>
          </a:p>
        </p:txBody>
      </p:sp>
      <p:sp>
        <p:nvSpPr>
          <p:cNvPr id="43" name="TextBox 43"/>
          <p:cNvSpPr txBox="1"/>
          <p:nvPr/>
        </p:nvSpPr>
        <p:spPr>
          <a:xfrm>
            <a:off x="3066560" y="6611626"/>
            <a:ext cx="10024754" cy="1116603"/>
          </a:xfrm>
          <a:prstGeom prst="rect">
            <a:avLst/>
          </a:prstGeom>
        </p:spPr>
        <p:txBody>
          <a:bodyPr wrap="square" lIns="0" tIns="0" rIns="0" bIns="0" rtlCol="0" anchor="t"/>
          <a:lstStyle/>
          <a:p>
            <a:pPr marL="342900" lvl="0" indent="-342900">
              <a:buFont typeface="Arial" panose="020B0604020202020204" pitchFamily="34" charset="0"/>
              <a:buChar char="•"/>
            </a:pPr>
            <a:r>
              <a:rPr lang="fr-FR" sz="2000" dirty="0">
                <a:latin typeface="Arial" panose="020B0604020202020204" pitchFamily="34" charset="0"/>
                <a:cs typeface="Arial" panose="020B0604020202020204" pitchFamily="34" charset="0"/>
              </a:rPr>
              <a:t>Use 4 </a:t>
            </a:r>
            <a:r>
              <a:rPr lang="fr-FR" sz="2000" dirty="0" err="1">
                <a:latin typeface="Arial" panose="020B0604020202020204" pitchFamily="34" charset="0"/>
                <a:cs typeface="Arial" panose="020B0604020202020204" pitchFamily="34" charset="0"/>
              </a:rPr>
              <a:t>read</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tools</a:t>
            </a:r>
            <a:r>
              <a:rPr lang="fr-FR" sz="2000" dirty="0">
                <a:latin typeface="Arial" panose="020B0604020202020204" pitchFamily="34" charset="0"/>
                <a:cs typeface="Arial" panose="020B0604020202020204" pitchFamily="34" charset="0"/>
              </a:rPr>
              <a:t> to </a:t>
            </a:r>
            <a:r>
              <a:rPr lang="fr-FR" sz="2000" dirty="0" err="1">
                <a:latin typeface="Arial" panose="020B0604020202020204" pitchFamily="34" charset="0"/>
                <a:cs typeface="Arial" panose="020B0604020202020204" pitchFamily="34" charset="0"/>
              </a:rPr>
              <a:t>retrieve</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order</a:t>
            </a:r>
            <a:r>
              <a:rPr lang="fr-FR" sz="2000" dirty="0">
                <a:latin typeface="Arial" panose="020B0604020202020204" pitchFamily="34" charset="0"/>
                <a:cs typeface="Arial" panose="020B0604020202020204" pitchFamily="34" charset="0"/>
              </a:rPr>
              <a:t>, stock, supplier and alternative-source information.</a:t>
            </a:r>
          </a:p>
          <a:p>
            <a:pPr marL="342900" lvl="0" indent="-342900">
              <a:buFont typeface="Arial" panose="020B0604020202020204" pitchFamily="34" charset="0"/>
              <a:buChar char="•"/>
            </a:pPr>
            <a:r>
              <a:rPr lang="fr-FR" sz="2000" dirty="0" err="1">
                <a:latin typeface="Arial" panose="020B0604020202020204" pitchFamily="34" charset="0"/>
                <a:cs typeface="Arial" panose="020B0604020202020204" pitchFamily="34" charset="0"/>
              </a:rPr>
              <a:t>Generate</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evidence-based</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explanations</a:t>
            </a:r>
            <a:r>
              <a:rPr lang="fr-FR" sz="2000" dirty="0">
                <a:latin typeface="Arial" panose="020B0604020202020204" pitchFamily="34" charset="0"/>
                <a:cs typeface="Arial" panose="020B0604020202020204" pitchFamily="34" charset="0"/>
              </a:rPr>
              <a:t> and draft supplier emails </a:t>
            </a:r>
            <a:r>
              <a:rPr lang="fr-FR" sz="2000" dirty="0" err="1">
                <a:latin typeface="Arial" panose="020B0604020202020204" pitchFamily="34" charset="0"/>
                <a:cs typeface="Arial" panose="020B0604020202020204" pitchFamily="34" charset="0"/>
              </a:rPr>
              <a:t>with</a:t>
            </a:r>
            <a:r>
              <a:rPr lang="fr-FR" sz="2000" dirty="0">
                <a:latin typeface="Arial" panose="020B0604020202020204" pitchFamily="34" charset="0"/>
                <a:cs typeface="Arial" panose="020B0604020202020204" pitchFamily="34" charset="0"/>
              </a:rPr>
              <a:t> an LLM.</a:t>
            </a:r>
          </a:p>
          <a:p>
            <a:pPr marL="342900" lvl="0" indent="-342900">
              <a:buFont typeface="Arial" panose="020B0604020202020204" pitchFamily="34" charset="0"/>
              <a:buChar char="•"/>
            </a:pPr>
            <a:r>
              <a:rPr lang="fr-FR" sz="2000" dirty="0">
                <a:latin typeface="Arial" panose="020B0604020202020204" pitchFamily="34" charset="0"/>
                <a:cs typeface="Arial" panose="020B0604020202020204" pitchFamily="34" charset="0"/>
              </a:rPr>
              <a:t>Use 3 action </a:t>
            </a:r>
            <a:r>
              <a:rPr lang="fr-FR" sz="2000" dirty="0" err="1">
                <a:latin typeface="Arial" panose="020B0604020202020204" pitchFamily="34" charset="0"/>
                <a:cs typeface="Arial" panose="020B0604020202020204" pitchFamily="34" charset="0"/>
              </a:rPr>
              <a:t>tools</a:t>
            </a:r>
            <a:r>
              <a:rPr lang="fr-FR" sz="2000" dirty="0">
                <a:latin typeface="Arial" panose="020B0604020202020204" pitchFamily="34" charset="0"/>
                <a:cs typeface="Arial" panose="020B0604020202020204" pitchFamily="34" charset="0"/>
              </a:rPr>
              <a:t> to </a:t>
            </a:r>
            <a:r>
              <a:rPr lang="fr-FR" sz="2000" dirty="0" err="1">
                <a:latin typeface="Arial" panose="020B0604020202020204" pitchFamily="34" charset="0"/>
                <a:cs typeface="Arial" panose="020B0604020202020204" pitchFamily="34" charset="0"/>
              </a:rPr>
              <a:t>execute</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permitted</a:t>
            </a:r>
            <a:r>
              <a:rPr lang="fr-FR" sz="2000" dirty="0">
                <a:latin typeface="Arial" panose="020B0604020202020204" pitchFamily="34" charset="0"/>
                <a:cs typeface="Arial" panose="020B0604020202020204" pitchFamily="34" charset="0"/>
              </a:rPr>
              <a:t> actions or </a:t>
            </a:r>
            <a:r>
              <a:rPr lang="fr-FR" sz="2000" dirty="0" err="1">
                <a:latin typeface="Arial" panose="020B0604020202020204" pitchFamily="34" charset="0"/>
                <a:cs typeface="Arial" panose="020B0604020202020204" pitchFamily="34" charset="0"/>
              </a:rPr>
              <a:t>request</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approval</a:t>
            </a:r>
            <a:r>
              <a:rPr lang="fr-FR" sz="2000" dirty="0">
                <a:latin typeface="Arial" panose="020B0604020202020204" pitchFamily="34" charset="0"/>
                <a:cs typeface="Arial" panose="020B0604020202020204" pitchFamily="34" charset="0"/>
              </a:rPr>
              <a:t>.</a:t>
            </a:r>
          </a:p>
        </p:txBody>
      </p:sp>
      <p:sp>
        <p:nvSpPr>
          <p:cNvPr id="44" name="TextBox 44"/>
          <p:cNvSpPr txBox="1"/>
          <p:nvPr/>
        </p:nvSpPr>
        <p:spPr>
          <a:xfrm>
            <a:off x="3066561" y="8039323"/>
            <a:ext cx="8778240" cy="390765"/>
          </a:xfrm>
          <a:prstGeom prst="rect">
            <a:avLst/>
          </a:prstGeom>
        </p:spPr>
        <p:txBody>
          <a:bodyPr wrap="square" lIns="0" tIns="0" rIns="0" bIns="0" rtlCol="0" anchor="t"/>
          <a:lstStyle/>
          <a:p>
            <a:pPr algn="l">
              <a:lnSpc>
                <a:spcPct val="110000"/>
              </a:lnSpc>
            </a:pPr>
            <a:r>
              <a:rPr sz="2600" b="1">
                <a:solidFill>
                  <a:srgbClr val="000000"/>
                </a:solidFill>
                <a:latin typeface="Arial"/>
              </a:rPr>
              <a:t>Act within limits</a:t>
            </a:r>
          </a:p>
        </p:txBody>
      </p:sp>
      <p:sp>
        <p:nvSpPr>
          <p:cNvPr id="45" name="TextBox 45"/>
          <p:cNvSpPr txBox="1"/>
          <p:nvPr/>
        </p:nvSpPr>
        <p:spPr>
          <a:xfrm>
            <a:off x="3066561" y="8572540"/>
            <a:ext cx="11237268" cy="914400"/>
          </a:xfrm>
          <a:prstGeom prst="rect">
            <a:avLst/>
          </a:prstGeom>
        </p:spPr>
        <p:txBody>
          <a:bodyPr wrap="square" lIns="0" tIns="0" rIns="0" bIns="0" rtlCol="0" anchor="t"/>
          <a:lstStyle/>
          <a:p>
            <a:pPr marL="342900" lvl="0" indent="-342900">
              <a:buFont typeface="Arial" panose="020B0604020202020204" pitchFamily="34" charset="0"/>
              <a:buChar char="•"/>
            </a:pPr>
            <a:r>
              <a:rPr lang="fr-FR" sz="2000" dirty="0" err="1">
                <a:latin typeface="Arial" panose="020B0604020202020204" pitchFamily="34" charset="0"/>
                <a:cs typeface="Arial" panose="020B0604020202020204" pitchFamily="34" charset="0"/>
              </a:rPr>
              <a:t>Automatically</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send</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permitted</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reminders</a:t>
            </a:r>
            <a:r>
              <a:rPr lang="fr-FR" sz="2000" dirty="0">
                <a:latin typeface="Arial" panose="020B0604020202020204" pitchFamily="34" charset="0"/>
                <a:cs typeface="Arial" panose="020B0604020202020204" pitchFamily="34" charset="0"/>
              </a:rPr>
              <a:t>.</a:t>
            </a:r>
          </a:p>
          <a:p>
            <a:pPr marL="342900" lvl="0" indent="-342900">
              <a:buFont typeface="Arial" panose="020B0604020202020204" pitchFamily="34" charset="0"/>
              <a:buChar char="•"/>
            </a:pPr>
            <a:r>
              <a:rPr lang="fr-FR" sz="2000" dirty="0">
                <a:latin typeface="Arial" panose="020B0604020202020204" pitchFamily="34" charset="0"/>
                <a:cs typeface="Arial" panose="020B0604020202020204" pitchFamily="34" charset="0"/>
              </a:rPr>
              <a:t>Route </a:t>
            </a:r>
            <a:r>
              <a:rPr lang="fr-FR" sz="2000" dirty="0" err="1">
                <a:latin typeface="Arial" panose="020B0604020202020204" pitchFamily="34" charset="0"/>
                <a:cs typeface="Arial" panose="020B0604020202020204" pitchFamily="34" charset="0"/>
              </a:rPr>
              <a:t>higher</a:t>
            </a:r>
            <a:r>
              <a:rPr lang="fr-FR" sz="2000" dirty="0">
                <a:latin typeface="Arial" panose="020B0604020202020204" pitchFamily="34" charset="0"/>
                <a:cs typeface="Arial" panose="020B0604020202020204" pitchFamily="34" charset="0"/>
              </a:rPr>
              <a:t>-impact actions for </a:t>
            </a:r>
            <a:r>
              <a:rPr lang="fr-FR" sz="2000" dirty="0" err="1">
                <a:latin typeface="Arial" panose="020B0604020202020204" pitchFamily="34" charset="0"/>
                <a:cs typeface="Arial" panose="020B0604020202020204" pitchFamily="34" charset="0"/>
              </a:rPr>
              <a:t>approval</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Procurement</a:t>
            </a:r>
            <a:r>
              <a:rPr lang="fr-FR" sz="2000" dirty="0">
                <a:latin typeface="Arial" panose="020B0604020202020204" pitchFamily="34" charset="0"/>
                <a:cs typeface="Arial" panose="020B0604020202020204" pitchFamily="34" charset="0"/>
              </a:rPr>
              <a:t> Manager up to €10,000; </a:t>
            </a:r>
            <a:r>
              <a:rPr lang="fr-FR" sz="2000" dirty="0" err="1">
                <a:latin typeface="Arial" panose="020B0604020202020204" pitchFamily="34" charset="0"/>
                <a:cs typeface="Arial" panose="020B0604020202020204" pitchFamily="34" charset="0"/>
              </a:rPr>
              <a:t>Director</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above</a:t>
            </a:r>
            <a:r>
              <a:rPr lang="fr-FR" sz="2000" dirty="0">
                <a:latin typeface="Arial" panose="020B0604020202020204" pitchFamily="34" charset="0"/>
                <a:cs typeface="Arial" panose="020B0604020202020204" pitchFamily="34" charset="0"/>
              </a:rPr>
              <a:t> €10,000.</a:t>
            </a:r>
          </a:p>
          <a:p>
            <a:pPr marL="342900" lvl="0" indent="-342900">
              <a:buFont typeface="Arial" panose="020B0604020202020204" pitchFamily="34" charset="0"/>
              <a:buChar char="•"/>
            </a:pPr>
            <a:r>
              <a:rPr lang="fr-FR" sz="2000" dirty="0">
                <a:latin typeface="Arial" panose="020B0604020202020204" pitchFamily="34" charset="0"/>
                <a:cs typeface="Arial" panose="020B0604020202020204" pitchFamily="34" charset="0"/>
              </a:rPr>
              <a:t>Record </a:t>
            </a:r>
            <a:r>
              <a:rPr lang="fr-FR" sz="2000" dirty="0" err="1">
                <a:latin typeface="Arial" panose="020B0604020202020204" pitchFamily="34" charset="0"/>
                <a:cs typeface="Arial" panose="020B0604020202020204" pitchFamily="34" charset="0"/>
              </a:rPr>
              <a:t>decisions</a:t>
            </a:r>
            <a:r>
              <a:rPr lang="fr-FR" sz="2000" dirty="0">
                <a:latin typeface="Arial" panose="020B0604020202020204" pitchFamily="34" charset="0"/>
                <a:cs typeface="Arial" panose="020B0604020202020204" pitchFamily="34" charset="0"/>
              </a:rPr>
              <a:t> and actions in an audit log.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sp>
        <p:nvSpPr>
          <p:cNvPr id="17" name="Freeform 17"/>
          <p:cNvSpPr/>
          <p:nvPr/>
        </p:nvSpPr>
        <p:spPr>
          <a:xfrm>
            <a:off x="-1774688" y="-2040255"/>
            <a:ext cx="3924490" cy="4114800"/>
          </a:xfrm>
          <a:custGeom>
            <a:avLst/>
            <a:gdLst/>
            <a:ahLst/>
            <a:cxnLst/>
            <a:rect l="l" t="t" r="r" b="b"/>
            <a:pathLst>
              <a:path w="3924490" h="4114800">
                <a:moveTo>
                  <a:pt x="0" y="0"/>
                </a:moveTo>
                <a:lnTo>
                  <a:pt x="3924491" y="0"/>
                </a:lnTo>
                <a:lnTo>
                  <a:pt x="3924491"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8" name="Freeform 18"/>
          <p:cNvSpPr/>
          <p:nvPr/>
        </p:nvSpPr>
        <p:spPr>
          <a:xfrm flipH="1">
            <a:off x="16138872" y="-2040255"/>
            <a:ext cx="3924491" cy="4114800"/>
          </a:xfrm>
          <a:custGeom>
            <a:avLst/>
            <a:gdLst/>
            <a:ahLst/>
            <a:cxnLst/>
            <a:rect l="l" t="t" r="r" b="b"/>
            <a:pathLst>
              <a:path w="3924491" h="4114800">
                <a:moveTo>
                  <a:pt x="3924491" y="0"/>
                </a:moveTo>
                <a:lnTo>
                  <a:pt x="0" y="0"/>
                </a:lnTo>
                <a:lnTo>
                  <a:pt x="0" y="4114800"/>
                </a:lnTo>
                <a:lnTo>
                  <a:pt x="3924491" y="4114800"/>
                </a:lnTo>
                <a:lnTo>
                  <a:pt x="3924491"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a:p>
        </p:txBody>
      </p:sp>
      <p:grpSp>
        <p:nvGrpSpPr>
          <p:cNvPr id="19" name="Group 19"/>
          <p:cNvGrpSpPr/>
          <p:nvPr/>
        </p:nvGrpSpPr>
        <p:grpSpPr>
          <a:xfrm>
            <a:off x="-622040" y="-1082993"/>
            <a:ext cx="2286485" cy="2286485"/>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ln w="38100" cap="sq">
              <a:solidFill>
                <a:srgbClr val="FFA800"/>
              </a:solidFill>
              <a:prstDash val="solid"/>
              <a:miter/>
            </a:ln>
          </p:spPr>
          <p:txBody>
            <a:bodyPr/>
            <a:lstStyle/>
            <a:p>
              <a:endParaRPr/>
            </a:p>
          </p:txBody>
        </p:sp>
        <p:sp>
          <p:nvSpPr>
            <p:cNvPr id="21" name="TextBox 21"/>
            <p:cNvSpPr txBox="1"/>
            <p:nvPr/>
          </p:nvSpPr>
          <p:spPr>
            <a:xfrm>
              <a:off x="139700" y="92075"/>
              <a:ext cx="533400" cy="581025"/>
            </a:xfrm>
            <a:prstGeom prst="rect">
              <a:avLst/>
            </a:prstGeom>
          </p:spPr>
          <p:txBody>
            <a:bodyPr lIns="50800" tIns="50800" rIns="50800" bIns="50800" rtlCol="0" anchor="ctr"/>
            <a:lstStyle/>
            <a:p>
              <a:pPr algn="ctr">
                <a:lnSpc>
                  <a:spcPts val="3359"/>
                </a:lnSpc>
              </a:pPr>
              <a:endParaRPr/>
            </a:p>
          </p:txBody>
        </p:sp>
      </p:grpSp>
      <p:grpSp>
        <p:nvGrpSpPr>
          <p:cNvPr id="22" name="Group 22"/>
          <p:cNvGrpSpPr/>
          <p:nvPr/>
        </p:nvGrpSpPr>
        <p:grpSpPr>
          <a:xfrm>
            <a:off x="16624647" y="-1082993"/>
            <a:ext cx="2286485" cy="228648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ln w="38100" cap="sq">
              <a:solidFill>
                <a:srgbClr val="FFA800"/>
              </a:solidFill>
              <a:prstDash val="solid"/>
              <a:miter/>
            </a:ln>
          </p:spPr>
          <p:txBody>
            <a:bodyPr/>
            <a:lstStyle/>
            <a:p>
              <a:endParaRPr/>
            </a:p>
          </p:txBody>
        </p:sp>
        <p:sp>
          <p:nvSpPr>
            <p:cNvPr id="24" name="TextBox 24"/>
            <p:cNvSpPr txBox="1"/>
            <p:nvPr/>
          </p:nvSpPr>
          <p:spPr>
            <a:xfrm>
              <a:off x="139700" y="92075"/>
              <a:ext cx="533400" cy="581025"/>
            </a:xfrm>
            <a:prstGeom prst="rect">
              <a:avLst/>
            </a:prstGeom>
          </p:spPr>
          <p:txBody>
            <a:bodyPr lIns="50800" tIns="50800" rIns="50800" bIns="50800" rtlCol="0" anchor="ctr"/>
            <a:lstStyle/>
            <a:p>
              <a:pPr algn="ctr">
                <a:lnSpc>
                  <a:spcPts val="3359"/>
                </a:lnSpc>
              </a:pPr>
              <a:endParaRPr/>
            </a:p>
          </p:txBody>
        </p:sp>
      </p:grpSp>
      <p:sp>
        <p:nvSpPr>
          <p:cNvPr id="28" name="Freeform 28"/>
          <p:cNvSpPr/>
          <p:nvPr/>
        </p:nvSpPr>
        <p:spPr>
          <a:xfrm>
            <a:off x="16556782" y="9660283"/>
            <a:ext cx="2384708" cy="2262492"/>
          </a:xfrm>
          <a:custGeom>
            <a:avLst/>
            <a:gdLst/>
            <a:ahLst/>
            <a:cxnLst/>
            <a:rect l="l" t="t" r="r" b="b"/>
            <a:pathLst>
              <a:path w="2384708" h="2262492">
                <a:moveTo>
                  <a:pt x="0" y="0"/>
                </a:moveTo>
                <a:lnTo>
                  <a:pt x="2384708" y="0"/>
                </a:lnTo>
                <a:lnTo>
                  <a:pt x="2384708" y="2262492"/>
                </a:lnTo>
                <a:lnTo>
                  <a:pt x="0" y="22624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29" name="Freeform 29"/>
          <p:cNvSpPr/>
          <p:nvPr/>
        </p:nvSpPr>
        <p:spPr>
          <a:xfrm flipH="1">
            <a:off x="-665621" y="9660283"/>
            <a:ext cx="2384708" cy="2262492"/>
          </a:xfrm>
          <a:custGeom>
            <a:avLst/>
            <a:gdLst/>
            <a:ahLst/>
            <a:cxnLst/>
            <a:rect l="l" t="t" r="r" b="b"/>
            <a:pathLst>
              <a:path w="2384708" h="2262492">
                <a:moveTo>
                  <a:pt x="2384709" y="0"/>
                </a:moveTo>
                <a:lnTo>
                  <a:pt x="0" y="0"/>
                </a:lnTo>
                <a:lnTo>
                  <a:pt x="0" y="2262492"/>
                </a:lnTo>
                <a:lnTo>
                  <a:pt x="2384709" y="2262492"/>
                </a:lnTo>
                <a:lnTo>
                  <a:pt x="2384709"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30" name="TextBox 30"/>
          <p:cNvSpPr txBox="1"/>
          <p:nvPr/>
        </p:nvSpPr>
        <p:spPr>
          <a:xfrm>
            <a:off x="3054003" y="1085850"/>
            <a:ext cx="12179994" cy="1034415"/>
          </a:xfrm>
          <a:prstGeom prst="rect">
            <a:avLst/>
          </a:prstGeom>
        </p:spPr>
        <p:txBody>
          <a:bodyPr wrap="square" lIns="0" tIns="0" rIns="0" bIns="0" rtlCol="0" anchor="t"/>
          <a:lstStyle/>
          <a:p>
            <a:pPr algn="ctr">
              <a:lnSpc>
                <a:spcPct val="110000"/>
              </a:lnSpc>
            </a:pPr>
            <a:r>
              <a:rPr sz="6600" b="1" dirty="0">
                <a:solidFill>
                  <a:srgbClr val="000000"/>
                </a:solidFill>
                <a:latin typeface="Arial"/>
              </a:rPr>
              <a:t>ARCHITECTURE</a:t>
            </a:r>
          </a:p>
        </p:txBody>
      </p:sp>
      <p:sp>
        <p:nvSpPr>
          <p:cNvPr id="37" name="TextBox 36"/>
          <p:cNvSpPr txBox="1"/>
          <p:nvPr/>
        </p:nvSpPr>
        <p:spPr>
          <a:xfrm>
            <a:off x="1828800" y="2103120"/>
            <a:ext cx="14630400" cy="457200"/>
          </a:xfrm>
          <a:prstGeom prst="rect">
            <a:avLst/>
          </a:prstGeom>
          <a:noFill/>
        </p:spPr>
        <p:txBody>
          <a:bodyPr wrap="square" lIns="45720" rIns="45720"/>
          <a:lstStyle/>
          <a:p>
            <a:pPr algn="ctr">
              <a:lnSpc>
                <a:spcPct val="110000"/>
              </a:lnSpc>
            </a:pPr>
            <a:endParaRPr sz="1800" b="0" dirty="0">
              <a:solidFill>
                <a:srgbClr val="000000"/>
              </a:solidFill>
              <a:latin typeface="Arial"/>
            </a:endParaRPr>
          </a:p>
        </p:txBody>
      </p:sp>
      <p:pic>
        <p:nvPicPr>
          <p:cNvPr id="38" name="Architecture diagram" descr="arch_slide.png"/>
          <p:cNvPicPr>
            <a:picLocks noChangeAspect="1"/>
          </p:cNvPicPr>
          <p:nvPr/>
        </p:nvPicPr>
        <p:blipFill>
          <a:blip r:embed="rId6"/>
          <a:stretch>
            <a:fillRect/>
          </a:stretch>
        </p:blipFill>
        <p:spPr>
          <a:xfrm>
            <a:off x="2648729" y="2308506"/>
            <a:ext cx="14122037" cy="725875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sp>
        <p:nvSpPr>
          <p:cNvPr id="7" name="Freeform 7"/>
          <p:cNvSpPr/>
          <p:nvPr/>
        </p:nvSpPr>
        <p:spPr>
          <a:xfrm>
            <a:off x="-599766" y="7368236"/>
            <a:ext cx="2571750" cy="4114800"/>
          </a:xfrm>
          <a:custGeom>
            <a:avLst/>
            <a:gdLst/>
            <a:ahLst/>
            <a:cxnLst/>
            <a:rect l="l" t="t" r="r" b="b"/>
            <a:pathLst>
              <a:path w="2571750" h="4114800">
                <a:moveTo>
                  <a:pt x="0" y="0"/>
                </a:moveTo>
                <a:lnTo>
                  <a:pt x="2571750" y="0"/>
                </a:lnTo>
                <a:lnTo>
                  <a:pt x="257175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a:p>
        </p:txBody>
      </p:sp>
      <p:sp>
        <p:nvSpPr>
          <p:cNvPr id="8" name="Freeform 8"/>
          <p:cNvSpPr/>
          <p:nvPr/>
        </p:nvSpPr>
        <p:spPr>
          <a:xfrm flipH="1" flipV="1">
            <a:off x="17259300" y="0"/>
            <a:ext cx="2571750" cy="4114800"/>
          </a:xfrm>
          <a:custGeom>
            <a:avLst/>
            <a:gdLst/>
            <a:ahLst/>
            <a:cxnLst/>
            <a:rect l="l" t="t" r="r" b="b"/>
            <a:pathLst>
              <a:path w="2571750" h="4114800">
                <a:moveTo>
                  <a:pt x="2571750" y="4114800"/>
                </a:moveTo>
                <a:lnTo>
                  <a:pt x="0" y="4114800"/>
                </a:lnTo>
                <a:lnTo>
                  <a:pt x="0" y="0"/>
                </a:lnTo>
                <a:lnTo>
                  <a:pt x="2571750" y="0"/>
                </a:lnTo>
                <a:lnTo>
                  <a:pt x="2571750" y="411480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a:p>
        </p:txBody>
      </p:sp>
      <p:sp>
        <p:nvSpPr>
          <p:cNvPr id="9" name="Freeform 9"/>
          <p:cNvSpPr/>
          <p:nvPr/>
        </p:nvSpPr>
        <p:spPr>
          <a:xfrm rot="-1334768">
            <a:off x="-3486672" y="-2138147"/>
            <a:ext cx="9928347" cy="3710720"/>
          </a:xfrm>
          <a:custGeom>
            <a:avLst/>
            <a:gdLst/>
            <a:ahLst/>
            <a:cxnLst/>
            <a:rect l="l" t="t" r="r" b="b"/>
            <a:pathLst>
              <a:path w="9928347" h="3710720">
                <a:moveTo>
                  <a:pt x="0" y="0"/>
                </a:moveTo>
                <a:lnTo>
                  <a:pt x="9928347" y="0"/>
                </a:lnTo>
                <a:lnTo>
                  <a:pt x="9928347" y="3710719"/>
                </a:lnTo>
                <a:lnTo>
                  <a:pt x="0" y="3710719"/>
                </a:lnTo>
                <a:lnTo>
                  <a:pt x="0" y="0"/>
                </a:lnTo>
                <a:close/>
              </a:path>
            </a:pathLst>
          </a:custGeom>
          <a:blipFill>
            <a:blip>
              <a:alphaModFix amt="15000"/>
              <a:extLst>
                <a:ext uri="{96DAC541-7B7A-43D3-8B79-37D633B846F1}">
                  <asvg:svgBlip xmlns:asvg="http://schemas.microsoft.com/office/drawing/2016/SVG/main" r:embed="rId6"/>
                </a:ext>
              </a:extLst>
            </a:blip>
            <a:stretch>
              <a:fillRect/>
            </a:stretch>
          </a:blipFill>
        </p:spPr>
        <p:txBody>
          <a:bodyPr/>
          <a:lstStyle/>
          <a:p>
            <a:endParaRPr/>
          </a:p>
        </p:txBody>
      </p:sp>
      <p:sp>
        <p:nvSpPr>
          <p:cNvPr id="10" name="Freeform 10"/>
          <p:cNvSpPr/>
          <p:nvPr/>
        </p:nvSpPr>
        <p:spPr>
          <a:xfrm rot="-2630875">
            <a:off x="11599935" y="10054889"/>
            <a:ext cx="11517080" cy="3699862"/>
          </a:xfrm>
          <a:custGeom>
            <a:avLst/>
            <a:gdLst/>
            <a:ahLst/>
            <a:cxnLst/>
            <a:rect l="l" t="t" r="r" b="b"/>
            <a:pathLst>
              <a:path w="11517080" h="3699862">
                <a:moveTo>
                  <a:pt x="0" y="0"/>
                </a:moveTo>
                <a:lnTo>
                  <a:pt x="11517080" y="0"/>
                </a:lnTo>
                <a:lnTo>
                  <a:pt x="11517080" y="3699862"/>
                </a:lnTo>
                <a:lnTo>
                  <a:pt x="0" y="3699862"/>
                </a:lnTo>
                <a:lnTo>
                  <a:pt x="0" y="0"/>
                </a:lnTo>
                <a:close/>
              </a:path>
            </a:pathLst>
          </a:custGeom>
          <a:blipFill>
            <a:blip>
              <a:alphaModFix amt="15000"/>
              <a:extLst>
                <a:ext uri="{96DAC541-7B7A-43D3-8B79-37D633B846F1}">
                  <asvg:svgBlip xmlns:asvg="http://schemas.microsoft.com/office/drawing/2016/SVG/main" r:embed="rId7"/>
                </a:ext>
              </a:extLst>
            </a:blip>
            <a:stretch>
              <a:fillRect/>
            </a:stretch>
          </a:blipFill>
        </p:spPr>
        <p:txBody>
          <a:bodyPr/>
          <a:lstStyle/>
          <a:p>
            <a:endParaRPr/>
          </a:p>
        </p:txBody>
      </p:sp>
      <p:sp>
        <p:nvSpPr>
          <p:cNvPr id="11" name="Freeform 11"/>
          <p:cNvSpPr/>
          <p:nvPr/>
        </p:nvSpPr>
        <p:spPr>
          <a:xfrm>
            <a:off x="-239772" y="0"/>
            <a:ext cx="1268472" cy="410419"/>
          </a:xfrm>
          <a:custGeom>
            <a:avLst/>
            <a:gdLst/>
            <a:ahLst/>
            <a:cxnLst/>
            <a:rect l="l" t="t" r="r" b="b"/>
            <a:pathLst>
              <a:path w="1268472" h="410419">
                <a:moveTo>
                  <a:pt x="0" y="0"/>
                </a:moveTo>
                <a:lnTo>
                  <a:pt x="1268472" y="0"/>
                </a:lnTo>
                <a:lnTo>
                  <a:pt x="1268472" y="410419"/>
                </a:lnTo>
                <a:lnTo>
                  <a:pt x="0" y="410419"/>
                </a:lnTo>
                <a:lnTo>
                  <a:pt x="0" y="0"/>
                </a:lnTo>
                <a:close/>
              </a:path>
            </a:pathLst>
          </a:custGeom>
          <a:blipFill>
            <a:blip>
              <a:alphaModFix amt="26000"/>
              <a:extLst>
                <a:ext uri="{96DAC541-7B7A-43D3-8B79-37D633B846F1}">
                  <asvg:svgBlip xmlns:asvg="http://schemas.microsoft.com/office/drawing/2016/SVG/main" r:embed="rId8"/>
                </a:ext>
              </a:extLst>
            </a:blip>
            <a:stretch>
              <a:fillRect r="-66504" b="-73038"/>
            </a:stretch>
          </a:blipFill>
        </p:spPr>
        <p:txBody>
          <a:bodyPr/>
          <a:lstStyle/>
          <a:p>
            <a:endParaRPr/>
          </a:p>
        </p:txBody>
      </p:sp>
      <p:sp>
        <p:nvSpPr>
          <p:cNvPr id="12" name="Freeform 12"/>
          <p:cNvSpPr/>
          <p:nvPr/>
        </p:nvSpPr>
        <p:spPr>
          <a:xfrm>
            <a:off x="17358475" y="9876581"/>
            <a:ext cx="1268472" cy="410419"/>
          </a:xfrm>
          <a:custGeom>
            <a:avLst/>
            <a:gdLst/>
            <a:ahLst/>
            <a:cxnLst/>
            <a:rect l="l" t="t" r="r" b="b"/>
            <a:pathLst>
              <a:path w="1268472" h="410419">
                <a:moveTo>
                  <a:pt x="0" y="0"/>
                </a:moveTo>
                <a:lnTo>
                  <a:pt x="1268472" y="0"/>
                </a:lnTo>
                <a:lnTo>
                  <a:pt x="1268472" y="410419"/>
                </a:lnTo>
                <a:lnTo>
                  <a:pt x="0" y="410419"/>
                </a:lnTo>
                <a:lnTo>
                  <a:pt x="0" y="0"/>
                </a:lnTo>
                <a:close/>
              </a:path>
            </a:pathLst>
          </a:custGeom>
          <a:blipFill>
            <a:blip>
              <a:alphaModFix amt="26000"/>
              <a:extLst>
                <a:ext uri="{96DAC541-7B7A-43D3-8B79-37D633B846F1}">
                  <asvg:svgBlip xmlns:asvg="http://schemas.microsoft.com/office/drawing/2016/SVG/main" r:embed="rId8"/>
                </a:ext>
              </a:extLst>
            </a:blip>
            <a:stretch>
              <a:fillRect r="-66504" b="-73038"/>
            </a:stretch>
          </a:blipFill>
        </p:spPr>
        <p:txBody>
          <a:bodyPr/>
          <a:lstStyle/>
          <a:p>
            <a:endParaRPr/>
          </a:p>
        </p:txBody>
      </p:sp>
      <p:sp>
        <p:nvSpPr>
          <p:cNvPr id="17" name="TextBox 17"/>
          <p:cNvSpPr txBox="1"/>
          <p:nvPr/>
        </p:nvSpPr>
        <p:spPr>
          <a:xfrm>
            <a:off x="2178527" y="1494889"/>
            <a:ext cx="13930947" cy="1034415"/>
          </a:xfrm>
          <a:prstGeom prst="rect">
            <a:avLst/>
          </a:prstGeom>
        </p:spPr>
        <p:txBody>
          <a:bodyPr wrap="square" lIns="0" tIns="0" rIns="0" bIns="0" rtlCol="0" anchor="t"/>
          <a:lstStyle/>
          <a:p>
            <a:pPr algn="ctr">
              <a:lnSpc>
                <a:spcPct val="110000"/>
              </a:lnSpc>
            </a:pPr>
            <a:r>
              <a:rPr sz="6600" b="1">
                <a:solidFill>
                  <a:srgbClr val="000000"/>
                </a:solidFill>
                <a:latin typeface="Arial"/>
              </a:rPr>
              <a:t>DATA SCIENCE APPROACH</a:t>
            </a:r>
          </a:p>
        </p:txBody>
      </p:sp>
      <p:sp>
        <p:nvSpPr>
          <p:cNvPr id="18" name="Rounded Rectangle 17"/>
          <p:cNvSpPr/>
          <p:nvPr/>
        </p:nvSpPr>
        <p:spPr>
          <a:xfrm>
            <a:off x="1097280" y="3063240"/>
            <a:ext cx="7680960" cy="6492240"/>
          </a:xfrm>
          <a:prstGeom prst="roundRect">
            <a:avLst>
              <a:gd name="adj" fmla="val 4000"/>
            </a:avLst>
          </a:prstGeom>
          <a:solidFill>
            <a:srgbClr val="E0D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246120"/>
            <a:ext cx="7132320" cy="457200"/>
          </a:xfrm>
          <a:prstGeom prst="rect">
            <a:avLst/>
          </a:prstGeom>
          <a:noFill/>
        </p:spPr>
        <p:txBody>
          <a:bodyPr wrap="square" lIns="45720" rIns="45720"/>
          <a:lstStyle/>
          <a:p>
            <a:pPr>
              <a:lnSpc>
                <a:spcPct val="110000"/>
              </a:lnSpc>
            </a:pPr>
            <a:r>
              <a:rPr sz="2400" b="1">
                <a:solidFill>
                  <a:srgbClr val="632103"/>
                </a:solidFill>
                <a:latin typeface="Arial"/>
              </a:rPr>
              <a:t>Method</a:t>
            </a:r>
          </a:p>
        </p:txBody>
      </p:sp>
      <p:sp>
        <p:nvSpPr>
          <p:cNvPr id="20" name="TextBox 19"/>
          <p:cNvSpPr txBox="1"/>
          <p:nvPr/>
        </p:nvSpPr>
        <p:spPr>
          <a:xfrm>
            <a:off x="1417320" y="3840480"/>
            <a:ext cx="7132320" cy="5577840"/>
          </a:xfrm>
          <a:prstGeom prst="rect">
            <a:avLst/>
          </a:prstGeom>
          <a:noFill/>
        </p:spPr>
        <p:txBody>
          <a:bodyPr wrap="square" lIns="45720" rIns="45720"/>
          <a:lstStyle/>
          <a:p>
            <a:pPr marL="274320" indent="-274320">
              <a:lnSpc>
                <a:spcPct val="110000"/>
              </a:lnSpc>
              <a:spcAft>
                <a:spcPts val="1200"/>
              </a:spcAft>
              <a:buFont typeface="Arial"/>
              <a:buChar char="•"/>
            </a:pPr>
            <a:r>
              <a:rPr sz="2000" b="1" dirty="0">
                <a:solidFill>
                  <a:srgbClr val="000000"/>
                </a:solidFill>
                <a:latin typeface="Arial"/>
              </a:rPr>
              <a:t>Question: </a:t>
            </a:r>
            <a:r>
              <a:rPr sz="2000" b="0" dirty="0">
                <a:solidFill>
                  <a:srgbClr val="000000"/>
                </a:solidFill>
                <a:latin typeface="Arial"/>
              </a:rPr>
              <a:t>which open orders are likely to arrive late, and which matter most?</a:t>
            </a:r>
          </a:p>
          <a:p>
            <a:pPr marL="274320" indent="-274320">
              <a:lnSpc>
                <a:spcPct val="100000"/>
              </a:lnSpc>
              <a:spcAft>
                <a:spcPts val="1200"/>
              </a:spcAft>
              <a:buFont typeface="Arial"/>
              <a:buChar char="•"/>
            </a:pPr>
            <a:r>
              <a:rPr sz="2000" b="1" dirty="0">
                <a:solidFill>
                  <a:srgbClr val="000000"/>
                </a:solidFill>
                <a:latin typeface="Arial"/>
              </a:rPr>
              <a:t>Data:</a:t>
            </a:r>
            <a:r>
              <a:rPr sz="2000" b="1" dirty="0">
                <a:solidFill>
                  <a:srgbClr val="000000"/>
                </a:solidFill>
                <a:latin typeface="Arial" panose="020B0604020202020204" pitchFamily="34" charset="0"/>
                <a:cs typeface="Arial" panose="020B0604020202020204" pitchFamily="34" charset="0"/>
              </a:rPr>
              <a:t> </a:t>
            </a:r>
            <a:r>
              <a:rPr lang="fr-FR" sz="2000" dirty="0">
                <a:latin typeface="Arial" panose="020B0604020202020204" pitchFamily="34" charset="0"/>
                <a:cs typeface="Arial" panose="020B0604020202020204" pitchFamily="34" charset="0"/>
              </a:rPr>
              <a:t>1,607 </a:t>
            </a:r>
            <a:r>
              <a:rPr lang="fr-FR" sz="2000" dirty="0" err="1">
                <a:latin typeface="Arial" panose="020B0604020202020204" pitchFamily="34" charset="0"/>
                <a:cs typeface="Arial" panose="020B0604020202020204" pitchFamily="34" charset="0"/>
              </a:rPr>
              <a:t>past</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orders</a:t>
            </a:r>
            <a:r>
              <a:rPr lang="fr-FR" sz="2000" dirty="0">
                <a:latin typeface="Arial" panose="020B0604020202020204" pitchFamily="34" charset="0"/>
                <a:cs typeface="Arial" panose="020B0604020202020204" pitchFamily="34" charset="0"/>
              </a:rPr>
              <a:t>, 30.5% </a:t>
            </a:r>
            <a:r>
              <a:rPr lang="fr-FR" sz="2000" dirty="0" err="1">
                <a:latin typeface="Arial" panose="020B0604020202020204" pitchFamily="34" charset="0"/>
                <a:cs typeface="Arial" panose="020B0604020202020204" pitchFamily="34" charset="0"/>
              </a:rPr>
              <a:t>delivered</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late</a:t>
            </a:r>
            <a:r>
              <a:rPr lang="fr-FR" sz="2000" dirty="0">
                <a:latin typeface="Arial" panose="020B0604020202020204" pitchFamily="34" charset="0"/>
                <a:cs typeface="Arial" panose="020B0604020202020204" pitchFamily="34" charset="0"/>
              </a:rPr>
              <a:t>. 12 </a:t>
            </a:r>
            <a:r>
              <a:rPr lang="fr-FR" sz="2000" dirty="0" err="1">
                <a:latin typeface="Arial" panose="020B0604020202020204" pitchFamily="34" charset="0"/>
                <a:cs typeface="Arial" panose="020B0604020202020204" pitchFamily="34" charset="0"/>
              </a:rPr>
              <a:t>bad</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orders</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removed</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each</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with</a:t>
            </a:r>
            <a:r>
              <a:rPr lang="fr-FR" sz="2000" dirty="0">
                <a:latin typeface="Arial" panose="020B0604020202020204" pitchFamily="34" charset="0"/>
                <a:cs typeface="Arial" panose="020B0604020202020204" pitchFamily="34" charset="0"/>
              </a:rPr>
              <a:t> a </a:t>
            </a:r>
            <a:r>
              <a:rPr lang="fr-FR" sz="2000" dirty="0" err="1">
                <a:latin typeface="Arial" panose="020B0604020202020204" pitchFamily="34" charset="0"/>
                <a:cs typeface="Arial" panose="020B0604020202020204" pitchFamily="34" charset="0"/>
              </a:rPr>
              <a:t>reason</a:t>
            </a:r>
            <a:r>
              <a:rPr lang="fr-FR" sz="2000" dirty="0">
                <a:latin typeface="Arial" panose="020B0604020202020204" pitchFamily="34" charset="0"/>
                <a:cs typeface="Arial" panose="020B0604020202020204" pitchFamily="34" charset="0"/>
              </a:rPr>
              <a:t>. </a:t>
            </a:r>
          </a:p>
          <a:p>
            <a:pPr marL="274320" indent="-274320">
              <a:lnSpc>
                <a:spcPct val="100000"/>
              </a:lnSpc>
              <a:spcAft>
                <a:spcPts val="1200"/>
              </a:spcAft>
              <a:buFont typeface="Arial"/>
              <a:buChar char="•"/>
            </a:pPr>
            <a:r>
              <a:rPr sz="2000" b="1" dirty="0">
                <a:solidFill>
                  <a:srgbClr val="000000"/>
                </a:solidFill>
                <a:latin typeface="Arial" panose="020B0604020202020204" pitchFamily="34" charset="0"/>
                <a:cs typeface="Arial" panose="020B0604020202020204" pitchFamily="34" charset="0"/>
              </a:rPr>
              <a:t>Statistic: </a:t>
            </a:r>
            <a:r>
              <a:rPr lang="fr-FR" sz="2000" dirty="0">
                <a:latin typeface="Arial" panose="020B0604020202020204" pitchFamily="34" charset="0"/>
                <a:cs typeface="Arial" panose="020B0604020202020204" pitchFamily="34" charset="0"/>
              </a:rPr>
              <a:t>How </a:t>
            </a:r>
            <a:r>
              <a:rPr lang="fr-FR" sz="2000" dirty="0" err="1">
                <a:latin typeface="Arial" panose="020B0604020202020204" pitchFamily="34" charset="0"/>
                <a:cs typeface="Arial" panose="020B0604020202020204" pitchFamily="34" charset="0"/>
              </a:rPr>
              <a:t>often</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each</a:t>
            </a:r>
            <a:r>
              <a:rPr lang="fr-FR" sz="2000" dirty="0">
                <a:latin typeface="Arial" panose="020B0604020202020204" pitchFamily="34" charset="0"/>
                <a:cs typeface="Arial" panose="020B0604020202020204" pitchFamily="34" charset="0"/>
              </a:rPr>
              <a:t> supplier </a:t>
            </a:r>
            <a:r>
              <a:rPr lang="fr-FR" sz="2000" dirty="0" err="1">
                <a:latin typeface="Arial" panose="020B0604020202020204" pitchFamily="34" charset="0"/>
                <a:cs typeface="Arial" panose="020B0604020202020204" pitchFamily="34" charset="0"/>
              </a:rPr>
              <a:t>was</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late</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before</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using</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only</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past</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deliveries</a:t>
            </a:r>
            <a:r>
              <a:rPr lang="fr-FR" sz="2000" dirty="0">
                <a:latin typeface="Arial" panose="020B0604020202020204" pitchFamily="34" charset="0"/>
                <a:cs typeface="Arial" panose="020B0604020202020204" pitchFamily="34" charset="0"/>
              </a:rPr>
              <a:t>.</a:t>
            </a:r>
            <a:endParaRPr sz="2000" b="0" dirty="0">
              <a:solidFill>
                <a:srgbClr val="000000"/>
              </a:solidFill>
              <a:latin typeface="Arial" panose="020B0604020202020204" pitchFamily="34" charset="0"/>
              <a:cs typeface="Arial" panose="020B0604020202020204" pitchFamily="34" charset="0"/>
            </a:endParaRPr>
          </a:p>
          <a:p>
            <a:pPr marL="274320" indent="-274320">
              <a:lnSpc>
                <a:spcPct val="110000"/>
              </a:lnSpc>
              <a:spcAft>
                <a:spcPts val="1200"/>
              </a:spcAft>
              <a:buFont typeface="Arial"/>
              <a:buChar char="•"/>
            </a:pPr>
            <a:r>
              <a:rPr sz="2000" b="1" dirty="0">
                <a:solidFill>
                  <a:srgbClr val="000000"/>
                </a:solidFill>
                <a:latin typeface="Arial"/>
              </a:rPr>
              <a:t>Rules: </a:t>
            </a:r>
            <a:r>
              <a:rPr sz="2000" b="0" dirty="0">
                <a:solidFill>
                  <a:srgbClr val="000000"/>
                </a:solidFill>
                <a:latin typeface="Arial"/>
              </a:rPr>
              <a:t>stock below safety stock (+40), stock runs out before delivery (+35), supplier on time under 70% (+25).</a:t>
            </a:r>
          </a:p>
          <a:p>
            <a:pPr marL="274320" indent="-274320">
              <a:lnSpc>
                <a:spcPct val="100000"/>
              </a:lnSpc>
              <a:spcAft>
                <a:spcPts val="1200"/>
              </a:spcAft>
              <a:buFont typeface="Arial"/>
              <a:buChar char="•"/>
            </a:pPr>
            <a:r>
              <a:rPr sz="2000" b="1" dirty="0">
                <a:solidFill>
                  <a:srgbClr val="000000"/>
                </a:solidFill>
                <a:latin typeface="Arial" panose="020B0604020202020204" pitchFamily="34" charset="0"/>
                <a:cs typeface="Arial" panose="020B0604020202020204" pitchFamily="34" charset="0"/>
              </a:rPr>
              <a:t>ML tested:</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Logistic</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Regression</a:t>
            </a:r>
            <a:r>
              <a:rPr lang="fr-FR" sz="2000" dirty="0">
                <a:latin typeface="Arial" panose="020B0604020202020204" pitchFamily="34" charset="0"/>
                <a:cs typeface="Arial" panose="020B0604020202020204" pitchFamily="34" charset="0"/>
              </a:rPr>
              <a:t> and Random Forest, </a:t>
            </a:r>
            <a:r>
              <a:rPr lang="fr-FR" sz="2000" dirty="0" err="1">
                <a:latin typeface="Arial" panose="020B0604020202020204" pitchFamily="34" charset="0"/>
                <a:cs typeface="Arial" panose="020B0604020202020204" pitchFamily="34" charset="0"/>
              </a:rPr>
              <a:t>trained</a:t>
            </a:r>
            <a:r>
              <a:rPr lang="fr-FR" sz="2000" dirty="0">
                <a:latin typeface="Arial" panose="020B0604020202020204" pitchFamily="34" charset="0"/>
                <a:cs typeface="Arial" panose="020B0604020202020204" pitchFamily="34" charset="0"/>
              </a:rPr>
              <a:t> on </a:t>
            </a:r>
            <a:r>
              <a:rPr lang="fr-FR" sz="2000" dirty="0" err="1">
                <a:latin typeface="Arial" panose="020B0604020202020204" pitchFamily="34" charset="0"/>
                <a:cs typeface="Arial" panose="020B0604020202020204" pitchFamily="34" charset="0"/>
              </a:rPr>
              <a:t>older</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orders</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tested</a:t>
            </a:r>
            <a:r>
              <a:rPr lang="fr-FR" sz="2000" dirty="0">
                <a:latin typeface="Arial" panose="020B0604020202020204" pitchFamily="34" charset="0"/>
                <a:cs typeface="Arial" panose="020B0604020202020204" pitchFamily="34" charset="0"/>
              </a:rPr>
              <a:t> on 350 </a:t>
            </a:r>
            <a:r>
              <a:rPr lang="fr-FR" sz="2000" dirty="0" err="1">
                <a:latin typeface="Arial" panose="020B0604020202020204" pitchFamily="34" charset="0"/>
                <a:cs typeface="Arial" panose="020B0604020202020204" pitchFamily="34" charset="0"/>
              </a:rPr>
              <a:t>newer</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ones</a:t>
            </a:r>
            <a:r>
              <a:rPr lang="fr-FR" sz="2000" dirty="0">
                <a:latin typeface="Arial" panose="020B0604020202020204" pitchFamily="34" charset="0"/>
                <a:cs typeface="Arial" panose="020B0604020202020204" pitchFamily="34" charset="0"/>
              </a:rPr>
              <a:t> </a:t>
            </a:r>
          </a:p>
          <a:p>
            <a:pPr marL="274320" indent="-274320">
              <a:lnSpc>
                <a:spcPct val="100000"/>
              </a:lnSpc>
              <a:spcAft>
                <a:spcPts val="1200"/>
              </a:spcAft>
              <a:buFont typeface="Arial"/>
              <a:buChar char="•"/>
            </a:pPr>
            <a:r>
              <a:rPr sz="2000" b="1" dirty="0">
                <a:solidFill>
                  <a:srgbClr val="000000"/>
                </a:solidFill>
                <a:latin typeface="Arial"/>
              </a:rPr>
              <a:t>Risk score: </a:t>
            </a:r>
            <a:r>
              <a:rPr sz="2000" b="0" dirty="0">
                <a:solidFill>
                  <a:srgbClr val="000000"/>
                </a:solidFill>
                <a:latin typeface="Arial"/>
              </a:rPr>
              <a:t>45% overdue, 30% rules, 25% supplier late rate.</a:t>
            </a:r>
          </a:p>
        </p:txBody>
      </p:sp>
      <p:sp>
        <p:nvSpPr>
          <p:cNvPr id="21" name="TextBox 20"/>
          <p:cNvSpPr txBox="1"/>
          <p:nvPr/>
        </p:nvSpPr>
        <p:spPr>
          <a:xfrm>
            <a:off x="9326880" y="3154680"/>
            <a:ext cx="8138160" cy="457200"/>
          </a:xfrm>
          <a:prstGeom prst="rect">
            <a:avLst/>
          </a:prstGeom>
          <a:noFill/>
        </p:spPr>
        <p:txBody>
          <a:bodyPr wrap="square" lIns="45720" rIns="45720"/>
          <a:lstStyle/>
          <a:p>
            <a:pPr algn="ctr">
              <a:lnSpc>
                <a:spcPct val="110000"/>
              </a:lnSpc>
            </a:pPr>
            <a:r>
              <a:rPr sz="2200" b="1">
                <a:solidFill>
                  <a:srgbClr val="000000"/>
                </a:solidFill>
                <a:latin typeface="Arial"/>
              </a:rPr>
              <a:t>Test ROC-AUC on 350 later orders</a:t>
            </a:r>
          </a:p>
        </p:txBody>
      </p:sp>
      <p:graphicFrame>
        <p:nvGraphicFramePr>
          <p:cNvPr id="22" name="Chart 21"/>
          <p:cNvGraphicFramePr>
            <a:graphicFrameLocks noGrp="1"/>
          </p:cNvGraphicFramePr>
          <p:nvPr/>
        </p:nvGraphicFramePr>
        <p:xfrm>
          <a:off x="9326880" y="3611880"/>
          <a:ext cx="8138160" cy="3840480"/>
        </p:xfrm>
        <a:graphic>
          <a:graphicData uri="http://schemas.openxmlformats.org/drawingml/2006/chart">
            <c:chart xmlns:c="http://schemas.openxmlformats.org/drawingml/2006/chart" xmlns:r="http://schemas.openxmlformats.org/officeDocument/2006/relationships" r:id="rId9"/>
          </a:graphicData>
        </a:graphic>
      </p:graphicFrame>
      <p:sp>
        <p:nvSpPr>
          <p:cNvPr id="23" name="TextBox 22"/>
          <p:cNvSpPr txBox="1"/>
          <p:nvPr/>
        </p:nvSpPr>
        <p:spPr>
          <a:xfrm>
            <a:off x="9326880" y="7452360"/>
            <a:ext cx="8138160" cy="320040"/>
          </a:xfrm>
          <a:prstGeom prst="rect">
            <a:avLst/>
          </a:prstGeom>
          <a:noFill/>
        </p:spPr>
        <p:txBody>
          <a:bodyPr wrap="square" lIns="45720" rIns="45720"/>
          <a:lstStyle/>
          <a:p>
            <a:pPr algn="ctr">
              <a:lnSpc>
                <a:spcPct val="110000"/>
              </a:lnSpc>
            </a:pPr>
            <a:endParaRPr sz="1200" b="0" dirty="0">
              <a:solidFill>
                <a:srgbClr val="000000"/>
              </a:solidFill>
              <a:latin typeface="Arial"/>
            </a:endParaRPr>
          </a:p>
        </p:txBody>
      </p:sp>
      <p:sp>
        <p:nvSpPr>
          <p:cNvPr id="24" name="TextBox 23"/>
          <p:cNvSpPr txBox="1"/>
          <p:nvPr/>
        </p:nvSpPr>
        <p:spPr>
          <a:xfrm>
            <a:off x="9326880" y="7863840"/>
            <a:ext cx="8138160" cy="411480"/>
          </a:xfrm>
          <a:prstGeom prst="rect">
            <a:avLst/>
          </a:prstGeom>
          <a:noFill/>
        </p:spPr>
        <p:txBody>
          <a:bodyPr wrap="square" lIns="45720" rIns="45720"/>
          <a:lstStyle/>
          <a:p>
            <a:pPr>
              <a:lnSpc>
                <a:spcPct val="110000"/>
              </a:lnSpc>
            </a:pPr>
            <a:r>
              <a:rPr sz="2200" b="1">
                <a:solidFill>
                  <a:srgbClr val="FF5100"/>
                </a:solidFill>
                <a:latin typeface="Arial"/>
              </a:rPr>
              <a:t>Why I kept it simple</a:t>
            </a:r>
          </a:p>
        </p:txBody>
      </p:sp>
      <p:sp>
        <p:nvSpPr>
          <p:cNvPr id="25" name="TextBox 24"/>
          <p:cNvSpPr txBox="1"/>
          <p:nvPr/>
        </p:nvSpPr>
        <p:spPr>
          <a:xfrm>
            <a:off x="9326880" y="8321040"/>
            <a:ext cx="8138160" cy="1371600"/>
          </a:xfrm>
          <a:prstGeom prst="rect">
            <a:avLst/>
          </a:prstGeom>
          <a:noFill/>
        </p:spPr>
        <p:txBody>
          <a:bodyPr wrap="square" lIns="45720" rIns="45720"/>
          <a:lstStyle/>
          <a:p>
            <a:pPr>
              <a:lnSpc>
                <a:spcPct val="110000"/>
              </a:lnSpc>
            </a:pPr>
            <a:r>
              <a:rPr sz="1500" b="0">
                <a:solidFill>
                  <a:srgbClr val="000000"/>
                </a:solidFill>
                <a:latin typeface="Arial"/>
              </a:rPr>
              <a:t>The ML model did not beat the supplier late rate on this test period (0.659 vs 0.676). Over 10 other generated datasets it was ahead by only 0.025 on average. That is not worth the extra complexity, so the prototype uses the statistic, which anyone can recompute and explain.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905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a:stretch>
          </a:blipFill>
        </p:spPr>
        <p:txBody>
          <a:bodyPr/>
          <a:lstStyle/>
          <a:p>
            <a:endParaRPr/>
          </a:p>
        </p:txBody>
      </p:sp>
      <p:sp>
        <p:nvSpPr>
          <p:cNvPr id="13" name="Freeform 13"/>
          <p:cNvSpPr/>
          <p:nvPr/>
        </p:nvSpPr>
        <p:spPr>
          <a:xfrm flipV="1">
            <a:off x="-330121" y="-397593"/>
            <a:ext cx="2717642" cy="3517983"/>
          </a:xfrm>
          <a:custGeom>
            <a:avLst/>
            <a:gdLst/>
            <a:ahLst/>
            <a:cxnLst/>
            <a:rect l="l" t="t" r="r" b="b"/>
            <a:pathLst>
              <a:path w="2717642" h="3517983">
                <a:moveTo>
                  <a:pt x="0" y="3517983"/>
                </a:moveTo>
                <a:lnTo>
                  <a:pt x="2717642" y="3517983"/>
                </a:lnTo>
                <a:lnTo>
                  <a:pt x="2717642" y="0"/>
                </a:lnTo>
                <a:lnTo>
                  <a:pt x="0" y="0"/>
                </a:lnTo>
                <a:lnTo>
                  <a:pt x="0" y="3517983"/>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4" name="Freeform 14"/>
          <p:cNvSpPr/>
          <p:nvPr/>
        </p:nvSpPr>
        <p:spPr>
          <a:xfrm flipH="1" flipV="1">
            <a:off x="15900479" y="-397593"/>
            <a:ext cx="2717642" cy="3517983"/>
          </a:xfrm>
          <a:custGeom>
            <a:avLst/>
            <a:gdLst/>
            <a:ahLst/>
            <a:cxnLst/>
            <a:rect l="l" t="t" r="r" b="b"/>
            <a:pathLst>
              <a:path w="2717642" h="3517983">
                <a:moveTo>
                  <a:pt x="2717642" y="3517983"/>
                </a:moveTo>
                <a:lnTo>
                  <a:pt x="0" y="3517983"/>
                </a:lnTo>
                <a:lnTo>
                  <a:pt x="0" y="0"/>
                </a:lnTo>
                <a:lnTo>
                  <a:pt x="2717642" y="0"/>
                </a:lnTo>
                <a:lnTo>
                  <a:pt x="2717642" y="3517983"/>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5" name="Freeform 15"/>
          <p:cNvSpPr/>
          <p:nvPr/>
        </p:nvSpPr>
        <p:spPr>
          <a:xfrm rot="-8723741">
            <a:off x="-3673594" y="8039915"/>
            <a:ext cx="9928347" cy="3710720"/>
          </a:xfrm>
          <a:custGeom>
            <a:avLst/>
            <a:gdLst/>
            <a:ahLst/>
            <a:cxnLst/>
            <a:rect l="l" t="t" r="r" b="b"/>
            <a:pathLst>
              <a:path w="9928347" h="3710720">
                <a:moveTo>
                  <a:pt x="0" y="0"/>
                </a:moveTo>
                <a:lnTo>
                  <a:pt x="9928347" y="0"/>
                </a:lnTo>
                <a:lnTo>
                  <a:pt x="9928347" y="3710720"/>
                </a:lnTo>
                <a:lnTo>
                  <a:pt x="0" y="3710720"/>
                </a:lnTo>
                <a:lnTo>
                  <a:pt x="0" y="0"/>
                </a:lnTo>
                <a:close/>
              </a:path>
            </a:pathLst>
          </a:custGeom>
          <a:blipFill>
            <a:blip>
              <a:alphaModFix amt="15000"/>
              <a:extLst>
                <a:ext uri="{96DAC541-7B7A-43D3-8B79-37D633B846F1}">
                  <asvg:svgBlip xmlns:asvg="http://schemas.microsoft.com/office/drawing/2016/SVG/main" r:embed="rId7"/>
                </a:ext>
              </a:extLst>
            </a:blip>
            <a:stretch>
              <a:fillRect/>
            </a:stretch>
          </a:blipFill>
        </p:spPr>
        <p:txBody>
          <a:bodyPr/>
          <a:lstStyle/>
          <a:p>
            <a:endParaRPr/>
          </a:p>
        </p:txBody>
      </p:sp>
      <p:sp>
        <p:nvSpPr>
          <p:cNvPr id="16" name="Freeform 16"/>
          <p:cNvSpPr/>
          <p:nvPr/>
        </p:nvSpPr>
        <p:spPr>
          <a:xfrm>
            <a:off x="16556782" y="9660283"/>
            <a:ext cx="2384708" cy="2262492"/>
          </a:xfrm>
          <a:custGeom>
            <a:avLst/>
            <a:gdLst/>
            <a:ahLst/>
            <a:cxnLst/>
            <a:rect l="l" t="t" r="r" b="b"/>
            <a:pathLst>
              <a:path w="2384708" h="2262492">
                <a:moveTo>
                  <a:pt x="0" y="0"/>
                </a:moveTo>
                <a:lnTo>
                  <a:pt x="2384708" y="0"/>
                </a:lnTo>
                <a:lnTo>
                  <a:pt x="2384708" y="2262492"/>
                </a:lnTo>
                <a:lnTo>
                  <a:pt x="0" y="226249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a:p>
        </p:txBody>
      </p:sp>
      <p:sp>
        <p:nvSpPr>
          <p:cNvPr id="17" name="Freeform 17"/>
          <p:cNvSpPr/>
          <p:nvPr/>
        </p:nvSpPr>
        <p:spPr>
          <a:xfrm flipH="1">
            <a:off x="-665621" y="9660283"/>
            <a:ext cx="2384708" cy="2262492"/>
          </a:xfrm>
          <a:custGeom>
            <a:avLst/>
            <a:gdLst/>
            <a:ahLst/>
            <a:cxnLst/>
            <a:rect l="l" t="t" r="r" b="b"/>
            <a:pathLst>
              <a:path w="2384708" h="2262492">
                <a:moveTo>
                  <a:pt x="2384709" y="0"/>
                </a:moveTo>
                <a:lnTo>
                  <a:pt x="0" y="0"/>
                </a:lnTo>
                <a:lnTo>
                  <a:pt x="0" y="2262492"/>
                </a:lnTo>
                <a:lnTo>
                  <a:pt x="2384709" y="2262492"/>
                </a:lnTo>
                <a:lnTo>
                  <a:pt x="2384709"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a:p>
        </p:txBody>
      </p:sp>
      <p:sp>
        <p:nvSpPr>
          <p:cNvPr id="18" name="TextBox 18"/>
          <p:cNvSpPr txBox="1"/>
          <p:nvPr/>
        </p:nvSpPr>
        <p:spPr>
          <a:xfrm>
            <a:off x="3054003" y="1085850"/>
            <a:ext cx="12179994" cy="1188720"/>
          </a:xfrm>
          <a:prstGeom prst="rect">
            <a:avLst/>
          </a:prstGeom>
        </p:spPr>
        <p:txBody>
          <a:bodyPr wrap="square" lIns="0" tIns="0" rIns="0" bIns="0" rtlCol="0" anchor="t"/>
          <a:lstStyle/>
          <a:p>
            <a:pPr algn="ctr">
              <a:lnSpc>
                <a:spcPct val="110000"/>
              </a:lnSpc>
            </a:pPr>
            <a:r>
              <a:rPr lang="fr-FR" sz="6600" b="1" dirty="0">
                <a:solidFill>
                  <a:srgbClr val="000000"/>
                </a:solidFill>
                <a:latin typeface="Arial"/>
              </a:rPr>
              <a:t>Prototype Demo</a:t>
            </a:r>
            <a:endParaRPr sz="6600" b="1" dirty="0">
              <a:solidFill>
                <a:srgbClr val="000000"/>
              </a:solidFill>
              <a:latin typeface="Arial"/>
            </a:endParaRPr>
          </a:p>
        </p:txBody>
      </p:sp>
      <p:sp>
        <p:nvSpPr>
          <p:cNvPr id="19" name="TextBox 18"/>
          <p:cNvSpPr txBox="1"/>
          <p:nvPr/>
        </p:nvSpPr>
        <p:spPr>
          <a:xfrm>
            <a:off x="1731377" y="2431807"/>
            <a:ext cx="16230600" cy="548640"/>
          </a:xfrm>
          <a:prstGeom prst="rect">
            <a:avLst/>
          </a:prstGeom>
          <a:noFill/>
        </p:spPr>
        <p:txBody>
          <a:bodyPr wrap="square" lIns="45720" rIns="45720"/>
          <a:lstStyle/>
          <a:p>
            <a:pPr algn="ctr">
              <a:lnSpc>
                <a:spcPct val="110000"/>
              </a:lnSpc>
            </a:pPr>
            <a:endParaRPr sz="2000" b="0" dirty="0">
              <a:solidFill>
                <a:srgbClr val="000000"/>
              </a:solidFill>
              <a:latin typeface="Arial"/>
            </a:endParaRPr>
          </a:p>
        </p:txBody>
      </p:sp>
      <p:sp>
        <p:nvSpPr>
          <p:cNvPr id="20" name="TextBox 19"/>
          <p:cNvSpPr txBox="1"/>
          <p:nvPr/>
        </p:nvSpPr>
        <p:spPr>
          <a:xfrm>
            <a:off x="1024128" y="9144000"/>
            <a:ext cx="16230600" cy="457200"/>
          </a:xfrm>
          <a:prstGeom prst="rect">
            <a:avLst/>
          </a:prstGeom>
          <a:noFill/>
        </p:spPr>
        <p:txBody>
          <a:bodyPr wrap="square" lIns="45720" rIns="45720"/>
          <a:lstStyle/>
          <a:p>
            <a:pPr algn="ctr">
              <a:lnSpc>
                <a:spcPct val="110000"/>
              </a:lnSpc>
            </a:pPr>
            <a:endParaRPr sz="1500" b="0" dirty="0">
              <a:solidFill>
                <a:srgbClr val="000000"/>
              </a:solidFill>
              <a:latin typeface="Arial"/>
            </a:endParaRPr>
          </a:p>
        </p:txBody>
      </p:sp>
      <p:pic>
        <p:nvPicPr>
          <p:cNvPr id="22" name="demo_video_no_captions">
            <a:hlinkClick r:id="" action="ppaction://media"/>
            <a:extLst>
              <a:ext uri="{FF2B5EF4-FFF2-40B4-BE49-F238E27FC236}">
                <a16:creationId xmlns:a16="http://schemas.microsoft.com/office/drawing/2014/main" id="{75AE323C-B2F0-3B04-BEEE-9EDE319B7DFF}"/>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1828800" y="2274570"/>
            <a:ext cx="14630400" cy="78219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9834"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2"/>
                </p:tgtEl>
              </p:cMediaNode>
            </p:video>
            <p:seq concurrent="1" nextAc="seek">
              <p:cTn id="8" restart="whenNotActive" fill="hold" evtFilter="cancelBubble" nodeType="interactiveSeq">
                <p:stCondLst>
                  <p:cond evt="onClick" delay="0">
                    <p:tgtEl>
                      <p:spTgt spid="2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2"/>
                                        </p:tgtEl>
                                      </p:cBhvr>
                                    </p:cmd>
                                  </p:childTnLst>
                                </p:cTn>
                              </p:par>
                            </p:childTnLst>
                          </p:cTn>
                        </p:par>
                      </p:childTnLst>
                    </p:cTn>
                  </p:par>
                </p:childTnLst>
              </p:cTn>
              <p:nextCondLst>
                <p:cond evt="onClick" delay="0">
                  <p:tgtEl>
                    <p:spTgt spid="2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47890" y="6964132"/>
            <a:ext cx="18288000" cy="3317141"/>
          </a:xfrm>
          <a:custGeom>
            <a:avLst/>
            <a:gdLst/>
            <a:ahLst/>
            <a:cxnLst/>
            <a:rect l="l" t="t" r="r" b="b"/>
            <a:pathLst>
              <a:path w="18288000" h="3317141">
                <a:moveTo>
                  <a:pt x="0" y="0"/>
                </a:moveTo>
                <a:lnTo>
                  <a:pt x="18288000" y="0"/>
                </a:lnTo>
                <a:lnTo>
                  <a:pt x="18288000" y="3317141"/>
                </a:lnTo>
                <a:lnTo>
                  <a:pt x="0" y="3317141"/>
                </a:lnTo>
                <a:lnTo>
                  <a:pt x="0" y="0"/>
                </a:lnTo>
                <a:close/>
              </a:path>
            </a:pathLst>
          </a:custGeom>
          <a:blipFill>
            <a:blip r:embed="rId3"/>
            <a:stretch>
              <a:fillRect t="-129841" b="-137474"/>
            </a:stretch>
          </a:blipFill>
        </p:spPr>
        <p:txBody>
          <a:bodyPr/>
          <a:lstStyle/>
          <a:p>
            <a:endParaRPr dirty="0"/>
          </a:p>
        </p:txBody>
      </p:sp>
      <p:sp>
        <p:nvSpPr>
          <p:cNvPr id="4" name="Freeform 4"/>
          <p:cNvSpPr/>
          <p:nvPr/>
        </p:nvSpPr>
        <p:spPr>
          <a:xfrm rot="-5400000">
            <a:off x="10521962" y="2954981"/>
            <a:ext cx="10721018" cy="4811057"/>
          </a:xfrm>
          <a:custGeom>
            <a:avLst/>
            <a:gdLst/>
            <a:ahLst/>
            <a:cxnLst/>
            <a:rect l="l" t="t" r="r" b="b"/>
            <a:pathLst>
              <a:path w="10721018" h="4811057">
                <a:moveTo>
                  <a:pt x="0" y="0"/>
                </a:moveTo>
                <a:lnTo>
                  <a:pt x="10721019" y="0"/>
                </a:lnTo>
                <a:lnTo>
                  <a:pt x="10721019" y="4811057"/>
                </a:lnTo>
                <a:lnTo>
                  <a:pt x="0" y="4811057"/>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a:p>
        </p:txBody>
      </p:sp>
      <p:grpSp>
        <p:nvGrpSpPr>
          <p:cNvPr id="5" name="Group 5"/>
          <p:cNvGrpSpPr/>
          <p:nvPr/>
        </p:nvGrpSpPr>
        <p:grpSpPr>
          <a:xfrm>
            <a:off x="8599111" y="1905535"/>
            <a:ext cx="10831333" cy="2531151"/>
            <a:chOff x="-968128" y="-152003"/>
            <a:chExt cx="2940914" cy="687256"/>
          </a:xfrm>
        </p:grpSpPr>
        <p:sp>
          <p:nvSpPr>
            <p:cNvPr id="6" name="Freeform 6"/>
            <p:cNvSpPr/>
            <p:nvPr/>
          </p:nvSpPr>
          <p:spPr>
            <a:xfrm>
              <a:off x="-968128" y="-152003"/>
              <a:ext cx="1972786" cy="535253"/>
            </a:xfrm>
            <a:custGeom>
              <a:avLst/>
              <a:gdLst/>
              <a:ahLst/>
              <a:cxnLst/>
              <a:rect l="l" t="t" r="r" b="b"/>
              <a:pathLst>
                <a:path w="1972786" h="535253">
                  <a:moveTo>
                    <a:pt x="0" y="0"/>
                  </a:moveTo>
                  <a:lnTo>
                    <a:pt x="1972786" y="0"/>
                  </a:lnTo>
                  <a:lnTo>
                    <a:pt x="1972786" y="535253"/>
                  </a:lnTo>
                  <a:lnTo>
                    <a:pt x="0" y="535253"/>
                  </a:lnTo>
                  <a:close/>
                </a:path>
              </a:pathLst>
            </a:custGeom>
            <a:solidFill>
              <a:srgbClr val="E0D8C7"/>
            </a:solidFill>
          </p:spPr>
          <p:txBody>
            <a:bodyPr/>
            <a:lstStyle/>
            <a:p>
              <a:endParaRPr dirty="0"/>
            </a:p>
          </p:txBody>
        </p:sp>
        <p:sp>
          <p:nvSpPr>
            <p:cNvPr id="7" name="TextBox 7"/>
            <p:cNvSpPr txBox="1"/>
            <p:nvPr/>
          </p:nvSpPr>
          <p:spPr>
            <a:xfrm>
              <a:off x="0" y="-47625"/>
              <a:ext cx="1972786" cy="582878"/>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a:off x="366984" y="1932724"/>
            <a:ext cx="7311198" cy="2236748"/>
            <a:chOff x="-12344" y="-72067"/>
            <a:chExt cx="1985130" cy="607320"/>
          </a:xfrm>
        </p:grpSpPr>
        <p:sp>
          <p:nvSpPr>
            <p:cNvPr id="9" name="Freeform 9"/>
            <p:cNvSpPr/>
            <p:nvPr/>
          </p:nvSpPr>
          <p:spPr>
            <a:xfrm>
              <a:off x="-12344" y="-72067"/>
              <a:ext cx="1972786" cy="535253"/>
            </a:xfrm>
            <a:custGeom>
              <a:avLst/>
              <a:gdLst/>
              <a:ahLst/>
              <a:cxnLst/>
              <a:rect l="l" t="t" r="r" b="b"/>
              <a:pathLst>
                <a:path w="1972786" h="535253">
                  <a:moveTo>
                    <a:pt x="0" y="0"/>
                  </a:moveTo>
                  <a:lnTo>
                    <a:pt x="1972786" y="0"/>
                  </a:lnTo>
                  <a:lnTo>
                    <a:pt x="1972786" y="535253"/>
                  </a:lnTo>
                  <a:lnTo>
                    <a:pt x="0" y="535253"/>
                  </a:lnTo>
                  <a:close/>
                </a:path>
              </a:pathLst>
            </a:custGeom>
            <a:solidFill>
              <a:srgbClr val="E0D8C7"/>
            </a:solidFill>
          </p:spPr>
          <p:txBody>
            <a:bodyPr/>
            <a:lstStyle/>
            <a:p>
              <a:endParaRPr/>
            </a:p>
          </p:txBody>
        </p:sp>
        <p:sp>
          <p:nvSpPr>
            <p:cNvPr id="10" name="TextBox 10"/>
            <p:cNvSpPr txBox="1"/>
            <p:nvPr/>
          </p:nvSpPr>
          <p:spPr>
            <a:xfrm>
              <a:off x="0" y="-47625"/>
              <a:ext cx="1972786" cy="582878"/>
            </a:xfrm>
            <a:prstGeom prst="rect">
              <a:avLst/>
            </a:prstGeom>
          </p:spPr>
          <p:txBody>
            <a:bodyPr lIns="50800" tIns="50800" rIns="50800" bIns="50800" rtlCol="0" anchor="ctr"/>
            <a:lstStyle/>
            <a:p>
              <a:pPr algn="ctr">
                <a:lnSpc>
                  <a:spcPts val="3359"/>
                </a:lnSpc>
              </a:pPr>
              <a:endParaRPr/>
            </a:p>
          </p:txBody>
        </p:sp>
      </p:grpSp>
      <p:grpSp>
        <p:nvGrpSpPr>
          <p:cNvPr id="12" name="Group 12"/>
          <p:cNvGrpSpPr/>
          <p:nvPr/>
        </p:nvGrpSpPr>
        <p:grpSpPr>
          <a:xfrm>
            <a:off x="4939733" y="4863629"/>
            <a:ext cx="10651091" cy="5907948"/>
            <a:chOff x="-919189" y="-1068868"/>
            <a:chExt cx="2891975" cy="1604121"/>
          </a:xfrm>
        </p:grpSpPr>
        <p:sp>
          <p:nvSpPr>
            <p:cNvPr id="13" name="Freeform 13"/>
            <p:cNvSpPr/>
            <p:nvPr/>
          </p:nvSpPr>
          <p:spPr>
            <a:xfrm>
              <a:off x="-919189" y="-1068868"/>
              <a:ext cx="1972786" cy="535253"/>
            </a:xfrm>
            <a:custGeom>
              <a:avLst/>
              <a:gdLst/>
              <a:ahLst/>
              <a:cxnLst/>
              <a:rect l="l" t="t" r="r" b="b"/>
              <a:pathLst>
                <a:path w="1972786" h="535253">
                  <a:moveTo>
                    <a:pt x="0" y="0"/>
                  </a:moveTo>
                  <a:lnTo>
                    <a:pt x="1972786" y="0"/>
                  </a:lnTo>
                  <a:lnTo>
                    <a:pt x="1972786" y="535253"/>
                  </a:lnTo>
                  <a:lnTo>
                    <a:pt x="0" y="535253"/>
                  </a:lnTo>
                  <a:close/>
                </a:path>
              </a:pathLst>
            </a:custGeom>
            <a:solidFill>
              <a:srgbClr val="E0D8C7"/>
            </a:solidFill>
          </p:spPr>
          <p:txBody>
            <a:bodyPr/>
            <a:lstStyle/>
            <a:p>
              <a:endParaRPr/>
            </a:p>
          </p:txBody>
        </p:sp>
        <p:sp>
          <p:nvSpPr>
            <p:cNvPr id="14" name="TextBox 14"/>
            <p:cNvSpPr txBox="1"/>
            <p:nvPr/>
          </p:nvSpPr>
          <p:spPr>
            <a:xfrm>
              <a:off x="0" y="-47625"/>
              <a:ext cx="1972786" cy="582878"/>
            </a:xfrm>
            <a:prstGeom prst="rect">
              <a:avLst/>
            </a:prstGeom>
          </p:spPr>
          <p:txBody>
            <a:bodyPr lIns="50800" tIns="50800" rIns="50800" bIns="50800" rtlCol="0" anchor="ctr"/>
            <a:lstStyle/>
            <a:p>
              <a:pPr algn="ctr">
                <a:lnSpc>
                  <a:spcPts val="3359"/>
                </a:lnSpc>
              </a:pPr>
              <a:endParaRPr/>
            </a:p>
          </p:txBody>
        </p:sp>
      </p:grpSp>
      <p:sp>
        <p:nvSpPr>
          <p:cNvPr id="15" name="Freeform 15"/>
          <p:cNvSpPr/>
          <p:nvPr/>
        </p:nvSpPr>
        <p:spPr>
          <a:xfrm>
            <a:off x="1028700" y="7006777"/>
            <a:ext cx="6859840" cy="1621652"/>
          </a:xfrm>
          <a:custGeom>
            <a:avLst/>
            <a:gdLst/>
            <a:ahLst/>
            <a:cxnLst/>
            <a:rect l="l" t="t" r="r" b="b"/>
            <a:pathLst>
              <a:path w="6859840" h="1621652">
                <a:moveTo>
                  <a:pt x="0" y="0"/>
                </a:moveTo>
                <a:lnTo>
                  <a:pt x="6859840" y="0"/>
                </a:lnTo>
                <a:lnTo>
                  <a:pt x="6859840" y="1621653"/>
                </a:lnTo>
                <a:lnTo>
                  <a:pt x="0" y="1621653"/>
                </a:lnTo>
                <a:lnTo>
                  <a:pt x="0" y="0"/>
                </a:lnTo>
                <a:close/>
              </a:path>
            </a:pathLst>
          </a:custGeom>
          <a:blipFill>
            <a:blip>
              <a:extLst>
                <a:ext uri="{96DAC541-7B7A-43D3-8B79-37D633B846F1}">
                  <asvg:svgBlip xmlns:asvg="http://schemas.microsoft.com/office/drawing/2016/SVG/main" r:embed="rId5"/>
                </a:ext>
              </a:extLst>
            </a:blip>
            <a:stretch>
              <a:fillRect t="-323015"/>
            </a:stretch>
          </a:blipFill>
        </p:spPr>
        <p:txBody>
          <a:bodyPr/>
          <a:lstStyle/>
          <a:p>
            <a:endParaRPr/>
          </a:p>
        </p:txBody>
      </p:sp>
      <p:sp>
        <p:nvSpPr>
          <p:cNvPr id="19" name="Freeform 19"/>
          <p:cNvSpPr/>
          <p:nvPr/>
        </p:nvSpPr>
        <p:spPr>
          <a:xfrm>
            <a:off x="5711401" y="5471495"/>
            <a:ext cx="848435" cy="848435"/>
          </a:xfrm>
          <a:custGeom>
            <a:avLst/>
            <a:gdLst/>
            <a:ahLst/>
            <a:cxnLst/>
            <a:rect l="l" t="t" r="r" b="b"/>
            <a:pathLst>
              <a:path w="848435" h="848435">
                <a:moveTo>
                  <a:pt x="0" y="0"/>
                </a:moveTo>
                <a:lnTo>
                  <a:pt x="848435" y="0"/>
                </a:lnTo>
                <a:lnTo>
                  <a:pt x="848435" y="848435"/>
                </a:lnTo>
                <a:lnTo>
                  <a:pt x="0" y="84843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dirty="0"/>
          </a:p>
        </p:txBody>
      </p:sp>
      <p:sp>
        <p:nvSpPr>
          <p:cNvPr id="20" name="Freeform 20"/>
          <p:cNvSpPr/>
          <p:nvPr/>
        </p:nvSpPr>
        <p:spPr>
          <a:xfrm>
            <a:off x="915817" y="2488761"/>
            <a:ext cx="848435" cy="848435"/>
          </a:xfrm>
          <a:custGeom>
            <a:avLst/>
            <a:gdLst/>
            <a:ahLst/>
            <a:cxnLst/>
            <a:rect l="l" t="t" r="r" b="b"/>
            <a:pathLst>
              <a:path w="848435" h="848435">
                <a:moveTo>
                  <a:pt x="0" y="0"/>
                </a:moveTo>
                <a:lnTo>
                  <a:pt x="848435" y="0"/>
                </a:lnTo>
                <a:lnTo>
                  <a:pt x="848435" y="848435"/>
                </a:lnTo>
                <a:lnTo>
                  <a:pt x="0" y="84843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dirty="0"/>
          </a:p>
        </p:txBody>
      </p:sp>
      <p:sp>
        <p:nvSpPr>
          <p:cNvPr id="21" name="Freeform 21"/>
          <p:cNvSpPr/>
          <p:nvPr/>
        </p:nvSpPr>
        <p:spPr>
          <a:xfrm rot="-10800000">
            <a:off x="-2795260" y="-1863023"/>
            <a:ext cx="5617474" cy="4114800"/>
          </a:xfrm>
          <a:custGeom>
            <a:avLst/>
            <a:gdLst/>
            <a:ahLst/>
            <a:cxnLst/>
            <a:rect l="l" t="t" r="r" b="b"/>
            <a:pathLst>
              <a:path w="5617474" h="4114800">
                <a:moveTo>
                  <a:pt x="0" y="0"/>
                </a:moveTo>
                <a:lnTo>
                  <a:pt x="5617474" y="0"/>
                </a:lnTo>
                <a:lnTo>
                  <a:pt x="5617474" y="4114800"/>
                </a:lnTo>
                <a:lnTo>
                  <a:pt x="0" y="4114800"/>
                </a:lnTo>
                <a:lnTo>
                  <a:pt x="0" y="0"/>
                </a:lnTo>
                <a:close/>
              </a:path>
            </a:pathLst>
          </a:custGeom>
          <a:blipFill>
            <a:blip>
              <a:alphaModFix amt="15000"/>
              <a:extLst>
                <a:ext uri="{96DAC541-7B7A-43D3-8B79-37D633B846F1}">
                  <asvg:svgBlip xmlns:asvg="http://schemas.microsoft.com/office/drawing/2016/SVG/main" r:embed="rId7"/>
                </a:ext>
              </a:extLst>
            </a:blip>
            <a:stretch>
              <a:fillRect/>
            </a:stretch>
          </a:blipFill>
        </p:spPr>
        <p:txBody>
          <a:bodyPr/>
          <a:lstStyle/>
          <a:p>
            <a:endParaRPr/>
          </a:p>
        </p:txBody>
      </p:sp>
      <p:sp>
        <p:nvSpPr>
          <p:cNvPr id="22" name="Freeform 22"/>
          <p:cNvSpPr/>
          <p:nvPr/>
        </p:nvSpPr>
        <p:spPr>
          <a:xfrm>
            <a:off x="8894361" y="2400544"/>
            <a:ext cx="848435" cy="848435"/>
          </a:xfrm>
          <a:custGeom>
            <a:avLst/>
            <a:gdLst/>
            <a:ahLst/>
            <a:cxnLst/>
            <a:rect l="l" t="t" r="r" b="b"/>
            <a:pathLst>
              <a:path w="848435" h="848435">
                <a:moveTo>
                  <a:pt x="0" y="0"/>
                </a:moveTo>
                <a:lnTo>
                  <a:pt x="848435" y="0"/>
                </a:lnTo>
                <a:lnTo>
                  <a:pt x="848435" y="848435"/>
                </a:lnTo>
                <a:lnTo>
                  <a:pt x="0" y="84843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dirty="0"/>
          </a:p>
        </p:txBody>
      </p:sp>
      <p:sp>
        <p:nvSpPr>
          <p:cNvPr id="23" name="Freeform 23"/>
          <p:cNvSpPr/>
          <p:nvPr/>
        </p:nvSpPr>
        <p:spPr>
          <a:xfrm>
            <a:off x="-726532" y="7688620"/>
            <a:ext cx="3180398" cy="4114800"/>
          </a:xfrm>
          <a:custGeom>
            <a:avLst/>
            <a:gdLst/>
            <a:ahLst/>
            <a:cxnLst/>
            <a:rect l="l" t="t" r="r" b="b"/>
            <a:pathLst>
              <a:path w="3180398" h="4114800">
                <a:moveTo>
                  <a:pt x="0" y="0"/>
                </a:moveTo>
                <a:lnTo>
                  <a:pt x="3180397" y="0"/>
                </a:lnTo>
                <a:lnTo>
                  <a:pt x="3180397" y="4114800"/>
                </a:lnTo>
                <a:lnTo>
                  <a:pt x="0" y="411480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a:p>
        </p:txBody>
      </p:sp>
      <p:sp>
        <p:nvSpPr>
          <p:cNvPr id="24" name="TextBox 24"/>
          <p:cNvSpPr txBox="1"/>
          <p:nvPr/>
        </p:nvSpPr>
        <p:spPr>
          <a:xfrm>
            <a:off x="5087849" y="720720"/>
            <a:ext cx="8595360" cy="2034540"/>
          </a:xfrm>
          <a:prstGeom prst="rect">
            <a:avLst/>
          </a:prstGeom>
        </p:spPr>
        <p:txBody>
          <a:bodyPr wrap="square" lIns="0" tIns="0" rIns="0" bIns="0" rtlCol="0" anchor="t"/>
          <a:lstStyle/>
          <a:p>
            <a:pPr algn="l">
              <a:lnSpc>
                <a:spcPct val="95000"/>
              </a:lnSpc>
              <a:spcAft>
                <a:spcPts val="0"/>
              </a:spcAft>
            </a:pPr>
            <a:r>
              <a:rPr sz="5800" b="1" dirty="0">
                <a:solidFill>
                  <a:srgbClr val="000000"/>
                </a:solidFill>
                <a:latin typeface="Arial"/>
              </a:rPr>
              <a:t>KEY LEARNINGS</a:t>
            </a:r>
            <a:endParaRPr lang="fr-FR" sz="5800" b="1" dirty="0">
              <a:solidFill>
                <a:srgbClr val="000000"/>
              </a:solidFill>
              <a:latin typeface="Arial"/>
            </a:endParaRPr>
          </a:p>
        </p:txBody>
      </p:sp>
      <p:sp>
        <p:nvSpPr>
          <p:cNvPr id="25" name="TextBox 25"/>
          <p:cNvSpPr txBox="1"/>
          <p:nvPr/>
        </p:nvSpPr>
        <p:spPr>
          <a:xfrm>
            <a:off x="1540092" y="6144715"/>
            <a:ext cx="6126480" cy="2194560"/>
          </a:xfrm>
          <a:prstGeom prst="rect">
            <a:avLst/>
          </a:prstGeom>
        </p:spPr>
        <p:txBody>
          <a:bodyPr wrap="square" lIns="0" tIns="0" rIns="0" bIns="0" rtlCol="0" anchor="t"/>
          <a:lstStyle/>
          <a:p>
            <a:pPr marL="274320" indent="-274320" algn="l">
              <a:lnSpc>
                <a:spcPct val="110000"/>
              </a:lnSpc>
              <a:spcAft>
                <a:spcPts val="400"/>
              </a:spcAft>
              <a:buFont typeface="Arial"/>
              <a:buChar char="•"/>
            </a:pPr>
            <a:endParaRPr lang="en-US" sz="1700" b="0" dirty="0">
              <a:solidFill>
                <a:srgbClr val="FFFFFF"/>
              </a:solidFill>
              <a:latin typeface="Arial"/>
            </a:endParaRPr>
          </a:p>
        </p:txBody>
      </p:sp>
      <p:sp>
        <p:nvSpPr>
          <p:cNvPr id="26" name="TextBox 26"/>
          <p:cNvSpPr txBox="1"/>
          <p:nvPr/>
        </p:nvSpPr>
        <p:spPr>
          <a:xfrm>
            <a:off x="1540092" y="5597417"/>
            <a:ext cx="3880380" cy="407018"/>
          </a:xfrm>
          <a:prstGeom prst="rect">
            <a:avLst/>
          </a:prstGeom>
        </p:spPr>
        <p:txBody>
          <a:bodyPr wrap="square" lIns="0" tIns="0" rIns="0" bIns="0" rtlCol="0" anchor="t"/>
          <a:lstStyle/>
          <a:p>
            <a:pPr algn="l">
              <a:lnSpc>
                <a:spcPct val="110000"/>
              </a:lnSpc>
            </a:pPr>
            <a:endParaRPr lang="fr-FR" sz="2600" b="1" dirty="0">
              <a:solidFill>
                <a:srgbClr val="FFFFFF"/>
              </a:solidFill>
              <a:latin typeface="Arial"/>
            </a:endParaRPr>
          </a:p>
        </p:txBody>
      </p:sp>
      <p:sp>
        <p:nvSpPr>
          <p:cNvPr id="28" name="TextBox 28"/>
          <p:cNvSpPr txBox="1"/>
          <p:nvPr/>
        </p:nvSpPr>
        <p:spPr>
          <a:xfrm>
            <a:off x="10351705" y="1948742"/>
            <a:ext cx="5212080" cy="1755648"/>
          </a:xfrm>
          <a:prstGeom prst="rect">
            <a:avLst/>
          </a:prstGeom>
        </p:spPr>
        <p:txBody>
          <a:bodyPr wrap="square" lIns="0" tIns="0" rIns="0" bIns="0" rtlCol="0" anchor="ctr"/>
          <a:lstStyle/>
          <a:p>
            <a:pPr lvl="0"/>
            <a:r>
              <a:rPr lang="fr-FR" sz="2000" b="1" dirty="0">
                <a:latin typeface="Arial" panose="020B0604020202020204" pitchFamily="34" charset="0"/>
                <a:cs typeface="Arial" panose="020B0604020202020204" pitchFamily="34" charset="0"/>
              </a:rPr>
              <a:t>From PoC to Production:</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Identifying</a:t>
            </a:r>
            <a:r>
              <a:rPr lang="fr-FR" sz="2000" dirty="0">
                <a:latin typeface="Arial" panose="020B0604020202020204" pitchFamily="34" charset="0"/>
                <a:cs typeface="Arial" panose="020B0604020202020204" pitchFamily="34" charset="0"/>
              </a:rPr>
              <a:t> the </a:t>
            </a:r>
            <a:r>
              <a:rPr lang="fr-FR" sz="2000" dirty="0" err="1">
                <a:latin typeface="Arial" panose="020B0604020202020204" pitchFamily="34" charset="0"/>
                <a:cs typeface="Arial" panose="020B0604020202020204" pitchFamily="34" charset="0"/>
              </a:rPr>
              <a:t>requirements</a:t>
            </a:r>
            <a:r>
              <a:rPr lang="fr-FR" sz="2000" dirty="0">
                <a:latin typeface="Arial" panose="020B0604020202020204" pitchFamily="34" charset="0"/>
                <a:cs typeface="Arial" panose="020B0604020202020204" pitchFamily="34" charset="0"/>
              </a:rPr>
              <a:t> for real SAP </a:t>
            </a:r>
            <a:r>
              <a:rPr lang="fr-FR" sz="2000" dirty="0" err="1">
                <a:latin typeface="Arial" panose="020B0604020202020204" pitchFamily="34" charset="0"/>
                <a:cs typeface="Arial" panose="020B0604020202020204" pitchFamily="34" charset="0"/>
              </a:rPr>
              <a:t>integration</a:t>
            </a:r>
            <a:r>
              <a:rPr lang="fr-FR" sz="2000" dirty="0">
                <a:latin typeface="Arial" panose="020B0604020202020204" pitchFamily="34" charset="0"/>
                <a:cs typeface="Arial" panose="020B0604020202020204" pitchFamily="34" charset="0"/>
              </a:rPr>
              <a:t>, monitoring, and </a:t>
            </a:r>
            <a:r>
              <a:rPr lang="fr-FR" sz="2000" dirty="0" err="1">
                <a:latin typeface="Arial" panose="020B0604020202020204" pitchFamily="34" charset="0"/>
                <a:cs typeface="Arial" panose="020B0604020202020204" pitchFamily="34" charset="0"/>
              </a:rPr>
              <a:t>governance</a:t>
            </a:r>
            <a:r>
              <a:rPr lang="fr-FR" sz="2000" dirty="0">
                <a:latin typeface="Arial" panose="020B0604020202020204" pitchFamily="34" charset="0"/>
                <a:cs typeface="Arial" panose="020B0604020202020204" pitchFamily="34" charset="0"/>
              </a:rPr>
              <a:t>.</a:t>
            </a:r>
          </a:p>
        </p:txBody>
      </p:sp>
      <p:sp>
        <p:nvSpPr>
          <p:cNvPr id="29" name="TextBox 29"/>
          <p:cNvSpPr txBox="1"/>
          <p:nvPr/>
        </p:nvSpPr>
        <p:spPr>
          <a:xfrm>
            <a:off x="11887200" y="5385816"/>
            <a:ext cx="5212080" cy="1755648"/>
          </a:xfrm>
          <a:prstGeom prst="rect">
            <a:avLst/>
          </a:prstGeom>
        </p:spPr>
        <p:txBody>
          <a:bodyPr wrap="square" lIns="0" tIns="0" rIns="0" bIns="0" rtlCol="0" anchor="ctr"/>
          <a:lstStyle/>
          <a:p>
            <a:pPr algn="l">
              <a:lnSpc>
                <a:spcPct val="110000"/>
              </a:lnSpc>
            </a:pPr>
            <a:endParaRPr sz="1900" b="0" dirty="0">
              <a:solidFill>
                <a:srgbClr val="000000"/>
              </a:solidFill>
              <a:latin typeface="Arial"/>
            </a:endParaRPr>
          </a:p>
        </p:txBody>
      </p:sp>
      <p:sp>
        <p:nvSpPr>
          <p:cNvPr id="30" name="TextBox 30"/>
          <p:cNvSpPr txBox="1"/>
          <p:nvPr/>
        </p:nvSpPr>
        <p:spPr>
          <a:xfrm>
            <a:off x="2140574" y="2048865"/>
            <a:ext cx="5212080" cy="1755648"/>
          </a:xfrm>
          <a:prstGeom prst="rect">
            <a:avLst/>
          </a:prstGeom>
        </p:spPr>
        <p:txBody>
          <a:bodyPr wrap="square" lIns="0" tIns="0" rIns="0" bIns="0" rtlCol="0" anchor="ctr"/>
          <a:lstStyle/>
          <a:p>
            <a:pPr lvl="0"/>
            <a:r>
              <a:rPr lang="fr-FR" sz="2000" b="1" dirty="0">
                <a:latin typeface="Arial" panose="020B0604020202020204" pitchFamily="34" charset="0"/>
                <a:cs typeface="Arial" panose="020B0604020202020204" pitchFamily="34" charset="0"/>
              </a:rPr>
              <a:t>SAP </a:t>
            </a:r>
            <a:r>
              <a:rPr lang="fr-FR" sz="2000" b="1" dirty="0" err="1">
                <a:latin typeface="Arial" panose="020B0604020202020204" pitchFamily="34" charset="0"/>
                <a:cs typeface="Arial" panose="020B0604020202020204" pitchFamily="34" charset="0"/>
              </a:rPr>
              <a:t>Ecosystem</a:t>
            </a:r>
            <a:r>
              <a:rPr lang="fr-FR" sz="2000" b="1" dirty="0">
                <a:latin typeface="Arial" panose="020B0604020202020204" pitchFamily="34" charset="0"/>
                <a:cs typeface="Arial" panose="020B0604020202020204" pitchFamily="34" charset="0"/>
              </a:rPr>
              <a:t>:</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Understanding</a:t>
            </a:r>
            <a:r>
              <a:rPr lang="fr-FR" sz="2000" dirty="0">
                <a:latin typeface="Arial" panose="020B0604020202020204" pitchFamily="34" charset="0"/>
                <a:cs typeface="Arial" panose="020B0604020202020204" pitchFamily="34" charset="0"/>
              </a:rPr>
              <a:t> how S/4HANA, BTP, </a:t>
            </a:r>
            <a:r>
              <a:rPr lang="fr-FR" sz="2000" dirty="0" err="1">
                <a:latin typeface="Arial" panose="020B0604020202020204" pitchFamily="34" charset="0"/>
                <a:cs typeface="Arial" panose="020B0604020202020204" pitchFamily="34" charset="0"/>
              </a:rPr>
              <a:t>OData</a:t>
            </a:r>
            <a:r>
              <a:rPr lang="fr-FR" sz="2000" dirty="0">
                <a:latin typeface="Arial" panose="020B0604020202020204" pitchFamily="34" charset="0"/>
                <a:cs typeface="Arial" panose="020B0604020202020204" pitchFamily="34" charset="0"/>
              </a:rPr>
              <a:t> APIs, and Joule fit </a:t>
            </a:r>
            <a:r>
              <a:rPr lang="fr-FR" sz="2000" dirty="0" err="1">
                <a:latin typeface="Arial" panose="020B0604020202020204" pitchFamily="34" charset="0"/>
                <a:cs typeface="Arial" panose="020B0604020202020204" pitchFamily="34" charset="0"/>
              </a:rPr>
              <a:t>together</a:t>
            </a:r>
            <a:r>
              <a:rPr lang="fr-FR" sz="2000" dirty="0">
                <a:latin typeface="Arial" panose="020B0604020202020204" pitchFamily="34" charset="0"/>
                <a:cs typeface="Arial" panose="020B0604020202020204" pitchFamily="34" charset="0"/>
              </a:rPr>
              <a:t>.</a:t>
            </a:r>
          </a:p>
        </p:txBody>
      </p:sp>
      <p:sp>
        <p:nvSpPr>
          <p:cNvPr id="32" name="ZoneTexte 31">
            <a:extLst>
              <a:ext uri="{FF2B5EF4-FFF2-40B4-BE49-F238E27FC236}">
                <a16:creationId xmlns:a16="http://schemas.microsoft.com/office/drawing/2014/main" id="{F3D51A19-165F-3F3F-2CBC-4C2A67A506FA}"/>
              </a:ext>
            </a:extLst>
          </p:cNvPr>
          <p:cNvSpPr txBox="1"/>
          <p:nvPr/>
        </p:nvSpPr>
        <p:spPr>
          <a:xfrm>
            <a:off x="6954504" y="5413143"/>
            <a:ext cx="4408539" cy="1015663"/>
          </a:xfrm>
          <a:prstGeom prst="rect">
            <a:avLst/>
          </a:prstGeom>
          <a:noFill/>
        </p:spPr>
        <p:txBody>
          <a:bodyPr wrap="square">
            <a:spAutoFit/>
          </a:bodyPr>
          <a:lstStyle/>
          <a:p>
            <a:pPr lvl="0"/>
            <a:r>
              <a:rPr lang="fr-FR" sz="2000" b="1" dirty="0">
                <a:latin typeface="Arial" panose="020B0604020202020204" pitchFamily="34" charset="0"/>
                <a:cs typeface="Arial" panose="020B0604020202020204" pitchFamily="34" charset="0"/>
              </a:rPr>
              <a:t>Business-Driven AI:</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Translating</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procurement</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needs</a:t>
            </a:r>
            <a:r>
              <a:rPr lang="fr-FR" sz="2000" dirty="0">
                <a:latin typeface="Arial" panose="020B0604020202020204" pitchFamily="34" charset="0"/>
                <a:cs typeface="Arial" panose="020B0604020202020204" pitchFamily="34" charset="0"/>
              </a:rPr>
              <a:t> and </a:t>
            </a:r>
            <a:r>
              <a:rPr lang="fr-FR" sz="2000" dirty="0" err="1">
                <a:latin typeface="Arial" panose="020B0604020202020204" pitchFamily="34" charset="0"/>
                <a:cs typeface="Arial" panose="020B0604020202020204" pitchFamily="34" charset="0"/>
              </a:rPr>
              <a:t>constraints</a:t>
            </a:r>
            <a:r>
              <a:rPr lang="fr-FR" sz="2000" dirty="0">
                <a:latin typeface="Arial" panose="020B0604020202020204" pitchFamily="34" charset="0"/>
                <a:cs typeface="Arial" panose="020B0604020202020204" pitchFamily="34" charset="0"/>
              </a:rPr>
              <a:t> </a:t>
            </a:r>
            <a:r>
              <a:rPr lang="fr-FR" sz="2000" dirty="0" err="1">
                <a:latin typeface="Arial" panose="020B0604020202020204" pitchFamily="34" charset="0"/>
                <a:cs typeface="Arial" panose="020B0604020202020204" pitchFamily="34" charset="0"/>
              </a:rPr>
              <a:t>into</a:t>
            </a:r>
            <a:r>
              <a:rPr lang="fr-FR" sz="2000" dirty="0">
                <a:latin typeface="Arial" panose="020B0604020202020204" pitchFamily="34" charset="0"/>
                <a:cs typeface="Arial" panose="020B0604020202020204" pitchFamily="34" charset="0"/>
              </a:rPr>
              <a:t> an intelligent solution.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TotalTime>
  <Words>1294</Words>
  <Application>Microsoft Office PowerPoint</Application>
  <PresentationFormat>Personnalisé</PresentationFormat>
  <Paragraphs>79</Paragraphs>
  <Slides>8</Slides>
  <Notes>8</Notes>
  <HiddenSlides>0</HiddenSlides>
  <MMClips>1</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8</vt:i4>
      </vt:variant>
    </vt:vector>
  </HeadingPairs>
  <TitlesOfParts>
    <vt:vector size="11" baseType="lpstr">
      <vt:lpstr>Calibri</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Orange Corporate Supply Chain Review Presentation</dc:title>
  <cp:lastModifiedBy>Shyrine OURARI</cp:lastModifiedBy>
  <cp:revision>2</cp:revision>
  <dcterms:created xsi:type="dcterms:W3CDTF">2006-08-16T00:00:00Z</dcterms:created>
  <dcterms:modified xsi:type="dcterms:W3CDTF">2026-10-16T14:44:30Z</dcterms:modified>
  <dc:identifier>DAHYE1vrI-Q</dc:identifier>
</cp:coreProperties>
</file>